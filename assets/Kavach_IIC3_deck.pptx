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63" r:id="rId26"/>
    <p:sldId id="257" r:id="rId3"/>
    <p:sldId id="258" r:id="rId4"/>
    <p:sldId id="259" r:id="rId5"/>
    <p:sldId id="260" r:id="rId6"/>
    <p:sldId id="264" r:id="rId27"/>
    <p:sldId id="261" r:id="rId7"/>
    <p:sldId id="265" r:id="rId28"/>
  </p:sldIdLst>
  <p:sldSz cx="12192000" cy="6858000"/>
  <p:notesSz cx="6858000" cy="9144000"/>
  <p:embeddedFontLst>
    <p:embeddedFont>
      <p:font typeface="Playfair Display" pitchFamily="2" charset="77"/>
      <p:regular r:id="rId10"/>
      <p:bold r:id="rId11"/>
      <p:italic r:id="rId12"/>
      <p:boldItalic r:id="rId13"/>
    </p:embeddedFont>
    <p:embeddedFont>
      <p:font typeface="Poppins" pitchFamily="2" charset="77"/>
      <p:regular r:id="rId14"/>
      <p:bold r:id="rId15"/>
      <p:italic r:id="rId16"/>
      <p:boldItalic r:id="rId17"/>
    </p:embeddedFont>
    <p:embeddedFont>
      <p:font typeface="Poppins Light" panose="00000400000000000000" pitchFamily="2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67"/>
  </p:normalViewPr>
  <p:slideViewPr>
    <p:cSldViewPr snapToGrid="0">
      <p:cViewPr varScale="1">
        <p:scale>
          <a:sx n="110" d="100"/>
          <a:sy n="110" d="100"/>
        </p:scale>
        <p:origin x="56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presProps" Target="presProps.xml"/>  <Relationship Id="rId26" Type="http://schemas.openxmlformats.org/officeDocument/2006/relationships/slide" Target="slides/slide8.xml"/>
  <Relationship Id="rId27" Type="http://schemas.openxmlformats.org/officeDocument/2006/relationships/slide" Target="slides/slide9.xml"/>
  <Relationship Id="rId28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8" name="Google Shape;14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" name="Google Shape;16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8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8.png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00175" y="414337"/>
            <a:ext cx="9391650" cy="60293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185511" y="1533525"/>
            <a:ext cx="7820977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INTERNATIONAL INNOVATION </a:t>
            </a:r>
            <a:r>
              <a:rPr lang="en-US" sz="4800" b="1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 </a:t>
            </a:r>
            <a:r>
              <a:rPr lang="en-US" sz="4800" b="1" dirty="0">
                <a:solidFill>
                  <a:srgbClr val="F2EEFA"/>
                </a:solidFill>
                <a:latin typeface="Times New Roman" panose="02020603050405020304" pitchFamily="18" charset="0"/>
                <a:ea typeface="Playfair Display"/>
                <a:cs typeface="Times New Roman" panose="02020603050405020304" pitchFamily="18" charset="0"/>
                <a:sym typeface="Playfair Display"/>
              </a:rPr>
              <a:t>3.0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4471987" y="40052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Theme: Cybersecurity &amp; Digital Sovereignty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471987" y="455771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ElderShield — Real-Time AI Voice-Clone Detection for UPI &amp; Voice Banking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4471987" y="51101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Team Name: {{TEAM_NAME}}</a:t>
            </a:r>
            <a:endParaRPr dirty="0"/>
          </a:p>
        </p:txBody>
      </p:sp>
      <p:pic>
        <p:nvPicPr>
          <p:cNvPr id="90" name="Google Shape;90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43362" y="40338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43362" y="4586287"/>
            <a:ext cx="1714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043362" y="513873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E7922C-D65A-4A22-8F20-6A8FB0158D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2323" y="588918"/>
            <a:ext cx="2844187" cy="8731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3A44B1-CD48-B725-0E2D-7F4DFB4556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91713" y="588918"/>
            <a:ext cx="1877963" cy="972367"/>
          </a:xfrm>
          <a:prstGeom prst="rect">
            <a:avLst/>
          </a:prstGeom>
        </p:spPr>
      </p:pic>
      <p:sp>
        <p:nvSpPr>
          <p:cNvPr id="7" name="Google Shape;111;p14">
            <a:extLst>
              <a:ext uri="{FF2B5EF4-FFF2-40B4-BE49-F238E27FC236}">
                <a16:creationId xmlns:a16="http://schemas.microsoft.com/office/drawing/2014/main" id="{B0B7FDCA-5857-D492-02A9-B3CA0036752A}"/>
              </a:ext>
            </a:extLst>
          </p:cNvPr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PROPOSED SOLUTION</a:t>
              </a:r>
              <a:endParaRPr dirty="0"/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Real-time deepfake-voice detector for UPI / voice-banking calls</a:t>
              </a:r>
              <a:endParaRPr dirty="0"/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Spoof score 0–1 + pass/fail verdict in &lt;500 ms</a:t>
              </a:r>
              <a:endParaRPr dirty="0"/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India-first: Hindi data, UPI flow, RBI-aligned</a:t>
              </a:r>
              <a:endParaRPr dirty="0"/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ELDERSHIELD — SPOOF-SCORE EVERY VOICE, BEFORE THE PAYMENT</a:t>
            </a:r>
            <a:endParaRPr dirty="0"/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B18FF61-1857-DD5F-D4B4-32B1030BFE8C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1AED31AE-ABCF-23A6-5C8B-83D0AC31EAE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1F32D93C-7343-8AF4-F453-702DCD511F75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86100"/>
            <a:ext cx="5238750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086100"/>
            <a:ext cx="5238750" cy="1933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850582" y="3476625"/>
            <a:ext cx="468058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Technologies</a:t>
            </a:r>
            <a:endParaRPr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962025" y="4019550"/>
            <a:ext cx="4457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Python · PyTorch · RawNet3/AASIST · Flask API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6660832" y="3476625"/>
            <a:ext cx="468058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Methodology</a:t>
            </a:r>
            <a:endParaRPr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6772275" y="4019550"/>
            <a:ext cx="4457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Methodology and process for implementation (Flow Charts / Images / Working Prototype)</a:t>
            </a:r>
            <a:endParaRPr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TECHNICAL APPROACH</a:t>
            </a:r>
            <a:endParaRPr dirty="0"/>
          </a:p>
        </p:txBody>
      </p:sp>
      <p:sp>
        <p:nvSpPr>
          <p:cNvPr id="124" name="Google Shape;124;p15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4E2B5A-0D8D-0AB1-E15B-5102336B75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D9BBD4A-0CA1-32F3-26D6-3379A9124AC1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E85BF679-52A2-A2B8-04BF-1A2CCF31193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6A9C8AA2-5CCF-3436-C5FD-C0ADC42FFDE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31" name="Google Shape;13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32385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1720929" y="3810000"/>
            <a:ext cx="113014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Feasibility</a:t>
            </a:r>
            <a:endParaRPr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866775" y="4257675"/>
            <a:ext cx="2838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SOTA baseline: 0.42% EER (NeXt-TDNN); trainable on laptop GPU</a:t>
            </a:r>
            <a:endParaRPr dirty="0"/>
          </a:p>
        </p:txBody>
      </p:sp>
      <p:pic>
        <p:nvPicPr>
          <p:cNvPr id="137" name="Google Shape;137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05500" y="32385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5490924" y="3810000"/>
            <a:ext cx="121015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</a:t>
            </a:r>
            <a:endParaRPr dirty="0"/>
          </a:p>
        </p:txBody>
      </p:sp>
      <p:sp>
        <p:nvSpPr>
          <p:cNvPr id="139" name="Google Shape;139;p16"/>
          <p:cNvSpPr txBox="1"/>
          <p:nvPr/>
        </p:nvSpPr>
        <p:spPr>
          <a:xfrm>
            <a:off x="4776787" y="4257675"/>
            <a:ext cx="26384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21× accuracy drop 2019→2021 LA (channel shift); limited Hindi data</a:t>
            </a:r>
            <a:endParaRPr dirty="0"/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39312" y="323850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9360931" y="3810000"/>
            <a:ext cx="109013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Strategies</a:t>
            </a:r>
            <a:endParaRPr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8486775" y="4257675"/>
            <a:ext cx="2838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Fine-tune on 2021 LA + HAV-DF + Common Voice hi-IN; RawBoost</a:t>
            </a:r>
            <a:endParaRPr dirty="0"/>
          </a:p>
        </p:txBody>
      </p:sp>
      <p:sp>
        <p:nvSpPr>
          <p:cNvPr id="143" name="Google Shape;143;p16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FEASIBILITY AND VIABILITY</a:t>
            </a:r>
            <a:endParaRPr dirty="0"/>
          </a:p>
        </p:txBody>
      </p:sp>
      <p:sp>
        <p:nvSpPr>
          <p:cNvPr id="144" name="Google Shape;144;p16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11687175" y="6467475"/>
            <a:ext cx="2190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539AD2-9821-3F8D-A3D6-35A48800DB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82BC47-C1E8-211A-F7F3-99B987C7EA8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C50263B4-4851-C499-7453-724CE8EF500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ED84BD7-0591-5A0E-6A51-006CBA369A9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" name="Google Shape;154;p17"/>
          <p:cNvSpPr txBox="1"/>
          <p:nvPr/>
        </p:nvSpPr>
        <p:spPr>
          <a:xfrm>
            <a:off x="1000125" y="1683172"/>
            <a:ext cx="46196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663+ banks, 79+ apps on UPI — every voice channel is a target surface</a:t>
            </a:r>
            <a:endParaRPr dirty="0"/>
          </a:p>
        </p:txBody>
      </p:sp>
      <p:sp>
        <p:nvSpPr>
          <p:cNvPr id="155" name="Google Shape;155;p17"/>
          <p:cNvSpPr txBox="1"/>
          <p:nvPr/>
        </p:nvSpPr>
        <p:spPr>
          <a:xfrm>
            <a:off x="957415" y="2197585"/>
            <a:ext cx="8865235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Social: fewer elderly victimized · Economic: ₹805 cr/yr runway · National: digital sovereignty</a:t>
            </a:r>
            <a:endParaRPr dirty="0"/>
          </a:p>
        </p:txBody>
      </p:sp>
      <p:pic>
        <p:nvPicPr>
          <p:cNvPr id="156" name="Google Shape;15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71174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264197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1180147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05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" name="Google Shape;143;p16">
            <a:extLst>
              <a:ext uri="{FF2B5EF4-FFF2-40B4-BE49-F238E27FC236}">
                <a16:creationId xmlns:a16="http://schemas.microsoft.com/office/drawing/2014/main" id="{3CAF39FC-C49D-1484-968C-D8CC6B6281EE}"/>
              </a:ext>
            </a:extLst>
          </p:cNvPr>
          <p:cNvSpPr txBox="1"/>
          <p:nvPr/>
        </p:nvSpPr>
        <p:spPr>
          <a:xfrm>
            <a:off x="571500" y="571500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IMPACT AND BENEFITS</a:t>
            </a:r>
            <a:endParaRPr dirty="0"/>
          </a:p>
        </p:txBody>
      </p:sp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FDB0C6B6-D604-F5FA-8C1F-20E675C8EE7E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3EAE13-7287-2B9A-1824-778F4241D5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816A02-64BD-FBFB-2E8F-FE68591AE81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0FC4E61E-2819-88A1-4D2E-25F6C534E60D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62BE52A-6744-24D5-7827-BF7ABFAE66D8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64" name="Google Shape;16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4735" y="1661038"/>
            <a:ext cx="10491634" cy="480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571500" y="682747"/>
            <a:ext cx="929116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3600" b="1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</a:defRPr>
            </a:lvl1pPr>
          </a:lstStyle>
          <a:p>
            <a:r>
              <a:rPr lang="en-US" dirty="0">
                <a:sym typeface="Playfair Display"/>
              </a:rPr>
              <a:t>RESEARCH AND REFERENCES</a:t>
            </a:r>
            <a:endParaRPr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E1C9CA6-2431-0A69-98BB-5E30EED6A492}"/>
              </a:ext>
            </a:extLst>
          </p:cNvPr>
          <p:cNvGrpSpPr/>
          <p:nvPr/>
        </p:nvGrpSpPr>
        <p:grpSpPr>
          <a:xfrm>
            <a:off x="2306177" y="3813418"/>
            <a:ext cx="8058150" cy="375455"/>
            <a:chOff x="2168525" y="4214995"/>
            <a:chExt cx="8058150" cy="375455"/>
          </a:xfrm>
        </p:grpSpPr>
        <p:sp>
          <p:nvSpPr>
            <p:cNvPr id="168" name="Google Shape;168;p18"/>
            <p:cNvSpPr txBox="1"/>
            <p:nvPr/>
          </p:nvSpPr>
          <p:spPr>
            <a:xfrm>
              <a:off x="2168525" y="4214995"/>
              <a:ext cx="8058150" cy="3656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8625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0" i="0" u="none" strike="noStrike" cap="none" dirty="0">
                  <a:solidFill>
                    <a:srgbClr val="F2EEFA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1. RBI/2024-25/105 · 2. CERT-In CIAD-2024-0060 · 3. ASVspoof 2021 LA · 4. AASIST (clovaai) · 5. UPI fraud ₹805 cr (FPJ) · 6. Hyderabad ₹1.97L (Indian Express)</a:t>
              </a:r>
              <a:endParaRPr dirty="0"/>
            </a:p>
          </p:txBody>
        </p:sp>
        <p:pic>
          <p:nvPicPr>
            <p:cNvPr id="169" name="Google Shape;169;p18" descr="image.png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169920" y="4361850"/>
              <a:ext cx="285750" cy="22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0" name="Google Shape;170;p18"/>
          <p:cNvSpPr txBox="1"/>
          <p:nvPr/>
        </p:nvSpPr>
        <p:spPr>
          <a:xfrm>
            <a:off x="11696700" y="6467475"/>
            <a:ext cx="2095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06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84B2B-35C3-CD70-ED94-211E6AF95D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3919" y="141850"/>
            <a:ext cx="2259114" cy="1169718"/>
          </a:xfrm>
          <a:prstGeom prst="rect">
            <a:avLst/>
          </a:prstGeom>
        </p:spPr>
      </p:pic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D7515F0B-1E18-86AF-90B0-D093B0E72B20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VOICE CLONING IS NOW A PAYMENT FRAUD VECTOR</a:t>
              </a:r>
              <a:endParaRPr dirty="0"/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UPI fraud: ₹805 crore, 10.64 lakh incidents (Apr–Nov FY26)</a:t>
              </a:r>
              <a:endParaRPr dirty="0"/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One cloned voice, ₹1.97 lakh lost, 10 minutes (Hyderabad, 2025)</a:t>
              </a:r>
              <a:endParaRPr dirty="0"/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GenAI voice cloning: 10,000 frauds/day per scammer (expert est.)</a:t>
              </a:r>
              <a:endParaRPr dirty="0"/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PROBLEM STATEMENT</a:t>
            </a:r>
            <a:endParaRPr dirty="0"/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Real model: fine-tuned anti-spoof network (AASIST-hindi)</a:t>
              </a:r>
              <a:endParaRPr dirty="0"/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Live API: audio in → spoof_score + verdict (&lt;500 ms)</a:t>
              </a:r>
              <a:endParaRPr dirty="0"/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GitHub: full code + training pipeline (link)</a:t>
              </a:r>
              <a:endParaRPr dirty="0"/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Demo video: 90-sec call-scenario (link)</a:t>
              </a:r>
              <a:endParaRPr dirty="0"/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WORKING PROTOTYPE — LIVE DEMO</a:t>
            </a:r>
            <a:endParaRPr dirty="0"/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07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4;p13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Team: {{TEAM_MEMBERS}}</a:t>
              </a:r>
              <a:endParaRPr dirty="0"/>
            </a:p>
          </p:txBody>
        </p:sp>
        <p:pic>
          <p:nvPicPr>
            <p:cNvPr id="105" name="Google Shape;105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AI disclosure: GenAI used for ideation/support only</a:t>
              </a:r>
              <a:endParaRPr dirty="0"/>
            </a:p>
          </p:txBody>
        </p:sp>
        <p:pic>
          <p:nvPicPr>
            <p:cNvPr id="106" name="Google Shape;106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Model training, evaluation and technical claims are our own work</a:t>
              </a:r>
              <a:endParaRPr dirty="0"/>
            </a:p>
          </p:txBody>
        </p:sp>
        <p:pic>
          <p:nvPicPr>
            <p:cNvPr id="107" name="Google Shape;107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Disclosure matches guidelines §12</a:t>
              </a:r>
              <a:endParaRPr dirty="0"/>
            </a:p>
          </p:txBody>
        </p:sp>
        <p:pic>
          <p:nvPicPr>
            <p:cNvPr id="108" name="Google Shape;108;p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TEAM &amp; TRANSPARENCY</a:t>
            </a:r>
            <a:endParaRPr dirty="0"/>
          </a:p>
        </p:txBody>
      </p:sp>
      <p:sp>
        <p:nvSpPr>
          <p:cNvPr id="110" name="Google Shape;110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09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188</Words>
  <Application>Microsoft Macintosh PowerPoint</Application>
  <PresentationFormat>Widescreen</PresentationFormat>
  <Paragraphs>38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Poppins Light</vt:lpstr>
      <vt:lpstr>Times New Roman</vt:lpstr>
      <vt:lpstr>Playfair Display</vt:lpstr>
      <vt:lpstr>Arial</vt:lpstr>
      <vt:lpstr>Poppins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Keshav Anand [CCE - 2024]</cp:lastModifiedBy>
  <cp:revision>9</cp:revision>
  <dcterms:modified xsi:type="dcterms:W3CDTF">2026-07-06T08:50:05Z</dcterms:modified>
</cp:coreProperties>
</file>