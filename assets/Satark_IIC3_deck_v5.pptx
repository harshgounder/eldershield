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3" r:id="rId26"/>
    <p:sldId id="257" r:id="rId3"/>
    <p:sldId id="266" r:id="rId8"/>
    <p:sldId id="258" r:id="rId4"/>
    <p:sldId id="259" r:id="rId5"/>
    <p:sldId id="260" r:id="rId6"/>
    <p:sldId id="264" r:id="rId27"/>
    <p:sldId id="261" r:id="rId7"/>
  </p:sldIdLst>
  <p:sldSz cx="12192000" cy="6858000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 Light" panose="00000400000000000000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7"/>
  </p:normalViewPr>
  <p:slideViewPr>
    <p:cSldViewPr snapToGrid="0">
      <p:cViewPr varScale="1">
        <p:scale>
          <a:sx n="110" d="100"/>
          <a:sy n="110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.xml"/><Relationship Id="rId2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hyperlink" Target="https://github.com/harshgounder/eldershiel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hyperlink" Target="https://rbi.org.in/Scripts/NotificationUser.aspx?Id=12898" TargetMode="External"/><Relationship Id="rId9" Type="http://schemas.openxmlformats.org/officeDocument/2006/relationships/hyperlink" Target="https://rbi.org.in/Scripts/BS_ViewMasDirections.aspx?id=12888" TargetMode="External"/><Relationship Id="rId10" Type="http://schemas.openxmlformats.org/officeDocument/2006/relationships/hyperlink" Target="https://www.cert-in.org.in/s2cMainServlet?pageid=PUBVLNOTES02&amp;VLCODE=CIAD-2024-0060" TargetMode="External"/><Relationship Id="rId11" Type="http://schemas.openxmlformats.org/officeDocument/2006/relationships/hyperlink" Target="https://www.pib.gov.in/PressReleasePage.aspx?PRID=2207376" TargetMode="External"/><Relationship Id="rId12" Type="http://schemas.openxmlformats.org/officeDocument/2006/relationships/hyperlink" Target="https://www.thehindubusinessline.com/" TargetMode="External"/><Relationship Id="rId13" Type="http://schemas.openxmlformats.org/officeDocument/2006/relationships/hyperlink" Target="https://zenodo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414337"/>
            <a:ext cx="9391650" cy="6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5511" y="1533525"/>
            <a:ext cx="782097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INNOVATION </a:t>
            </a:r>
            <a:r>
              <a:rPr lang="en-US" sz="4800" b="1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 </a:t>
            </a:r>
            <a:r>
              <a:rPr lang="en-US" sz="4800" b="1" dirty="0">
                <a:solidFill>
                  <a:srgbClr val="F2EEFA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3.0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71987" y="40052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Theme: Cybersecurity &amp; Digital Sovereignty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71987" y="4557712"/>
            <a:ext cx="77724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SATARK · India's First Anti-Digital-Arrest Shield</a:t>
            </a:r>
            <a:endParaRPr dirty="0"/>
          </a:p>
          <a:p>
            <a:r>
              <a:rPr sz="1800" b="1">
                <a:solidFill>
                  <a:srgbClr val="FFFFFF"/>
                </a:solidFill>
              </a:rPr>
              <a:t>Recognize → Interrupt → Verify → Package → Report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4471987" y="51101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Team: 511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3362" y="4033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62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5138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E7922C-D65A-4A22-8F20-6A8FB0158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3" y="588918"/>
            <a:ext cx="2844187" cy="87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44B1-CD48-B725-0E2D-7F4DFB455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713" y="588918"/>
            <a:ext cx="1877963" cy="972367"/>
          </a:xfrm>
          <a:prstGeom prst="rect">
            <a:avLst/>
          </a:prstGeom>
        </p:spPr>
      </p:pic>
      <p:sp>
        <p:nvSpPr>
          <p:cNvPr id="93" name="Rectangle 92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B0B7FDCA-5857-D492-02A9-B3CA0036752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BE695"/>
                </a:solidFill>
                <a:latin typeface="Poppins Light"/>
              </a:rPr>
              <a:t>₹4,057.7 cr lost · 2,97,727 complaints · zero consumer defenses (2022 to May 2026)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4;p13_r1_r25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8;p14_r2_r26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0;p14_r16_r3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1;p14_r17_r33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02</a:t>
            </a:r>
          </a:p>
        </p:txBody>
      </p:sp>
      <p:pic>
        <p:nvPicPr>
          <p:cNvPr id="15" name="Picture 6_r18_r34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40" name="Rectangle 139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692640" y="4206240"/>
            <a:ext cx="5486400" cy="365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0" b="1">
                <a:solidFill>
                  <a:srgbClr val="FBE695">
                    <a:alpha val="5000"/>
                  </a:srgbClr>
                </a:solidFill>
                <a:solidFill>
                  <a:srgbClr val="FBE695"/>
                </a:solidFill>
                <a:latin typeface="Playfair Display"/>
              </a:rPr>
              <a:t>₹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" y="1371600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INDIA'S LARGEST QUANTIFIED FRAUD · ₹4,057.7 CRORE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AND THE VICTIM'S PHONE IS UNGUARDED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66928" y="2395728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41248" y="2542032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BE695"/>
                </a:solidFill>
                <a:latin typeface="Playfair Display"/>
              </a:rPr>
              <a:t>₹4,057.7 cr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1248" y="31089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lost to digital-arrest scams (2022 · May 2026)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66928" y="3730752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41248" y="387705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BE695"/>
                </a:solidFill>
                <a:latin typeface="Playfair Display"/>
              </a:rPr>
              <a:t>2,97,727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1248" y="444398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complaints filed · I4C / NCRP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66928" y="5065776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41248" y="52120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BE695"/>
                </a:solidFill>
                <a:latin typeface="Playfair Display"/>
              </a:rPr>
              <a:t>3×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1248" y="577900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complaint growth 2022 → 2024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72200" y="2395728"/>
            <a:ext cx="5449824" cy="400507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46520" y="25786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HOW THE SCAM WORKS</a:t>
            </a:r>
          </a:p>
        </p:txBody>
      </p:sp>
      <p:sp>
        <p:nvSpPr>
          <p:cNvPr id="130" name="Oval 129"/>
          <p:cNvSpPr/>
          <p:nvPr/>
        </p:nvSpPr>
        <p:spPr>
          <a:xfrm>
            <a:off x="6492240" y="2999232"/>
            <a:ext cx="310896" cy="31089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F1035"/>
                </a:solidFill>
                <a:latin typeface="Poppins"/>
              </a:rPr>
              <a:t>01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949440" y="3017520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Fake 'CBI / police' call · arrest threat, stay on the line</a:t>
            </a:r>
          </a:p>
        </p:txBody>
      </p:sp>
      <p:sp>
        <p:nvSpPr>
          <p:cNvPr id="132" name="Oval 131"/>
          <p:cNvSpPr/>
          <p:nvPr/>
        </p:nvSpPr>
        <p:spPr>
          <a:xfrm>
            <a:off x="6492240" y="3803904"/>
            <a:ext cx="310896" cy="31089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F1035"/>
                </a:solidFill>
                <a:latin typeface="Poppins"/>
              </a:rPr>
              <a:t>02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949440" y="3822191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Victim isolated · forbidden from telling anyone</a:t>
            </a:r>
          </a:p>
        </p:txBody>
      </p:sp>
      <p:sp>
        <p:nvSpPr>
          <p:cNvPr id="134" name="Oval 133"/>
          <p:cNvSpPr/>
          <p:nvPr/>
        </p:nvSpPr>
        <p:spPr>
          <a:xfrm>
            <a:off x="6492240" y="4608576"/>
            <a:ext cx="310896" cy="31089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F1035"/>
                </a:solidFill>
                <a:latin typeface="Poppins"/>
              </a:rPr>
              <a:t>03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49440" y="4626864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Life savings moved via UPI within minutes</a:t>
            </a:r>
          </a:p>
        </p:txBody>
      </p:sp>
      <p:sp>
        <p:nvSpPr>
          <p:cNvPr id="136" name="Oval 135"/>
          <p:cNvSpPr/>
          <p:nvPr/>
        </p:nvSpPr>
        <p:spPr>
          <a:xfrm>
            <a:off x="6492240" y="5413248"/>
            <a:ext cx="310896" cy="31089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F1035"/>
                </a:solidFill>
                <a:latin typeface="Poppins"/>
              </a:rPr>
              <a:t>04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949440" y="5431536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The truth surfaces hours later · or never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66928" y="6236208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77240" y="6327648"/>
            <a:ext cx="10607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BE695"/>
                </a:solidFill>
                <a:latin typeface="Poppins Light"/>
              </a:rPr>
              <a:t>Fraud completes at ONE moment · the UPI payment. Nobody guards it.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4;p13_r1_r25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8;p14_r2_r26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0;p14_r16_r3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1;p14_r17_r33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03</a:t>
            </a:r>
          </a:p>
        </p:txBody>
      </p:sp>
      <p:pic>
        <p:nvPicPr>
          <p:cNvPr id="15" name="Picture 6_r18_r34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42" name="Rectangle 141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66928" y="1298448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BE695"/>
                </a:solidFill>
                <a:latin typeface="Playfair Display"/>
              </a:rPr>
              <a:t>SATARK · THE PRODUCT LOOP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Recognize → Interrupt → Verify → Package → Report</a:t>
            </a:r>
          </a:p>
        </p:txBody>
      </p:sp>
      <p:sp>
        <p:nvSpPr>
          <p:cNvPr id="144" name="Chevron 143"/>
          <p:cNvSpPr/>
          <p:nvPr/>
        </p:nvSpPr>
        <p:spPr>
          <a:xfrm>
            <a:off x="845819" y="2331720"/>
            <a:ext cx="1975104" cy="548640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200">
                <a:solidFill>
                  <a:srgbClr val="FBE695"/>
                </a:solidFill>
                <a:latin typeface="Poppins Light"/>
              </a:rPr>
              <a:t>RECOGNIZE</a:t>
            </a:r>
          </a:p>
        </p:txBody>
      </p:sp>
      <p:sp>
        <p:nvSpPr>
          <p:cNvPr id="145" name="Chevron 144"/>
          <p:cNvSpPr/>
          <p:nvPr/>
        </p:nvSpPr>
        <p:spPr>
          <a:xfrm>
            <a:off x="2976372" y="2331720"/>
            <a:ext cx="1975104" cy="548640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200">
                <a:solidFill>
                  <a:srgbClr val="FBE695"/>
                </a:solidFill>
                <a:latin typeface="Poppins Light"/>
              </a:rPr>
              <a:t>INTERRUPT</a:t>
            </a:r>
          </a:p>
        </p:txBody>
      </p:sp>
      <p:sp>
        <p:nvSpPr>
          <p:cNvPr id="146" name="Chevron 145"/>
          <p:cNvSpPr/>
          <p:nvPr/>
        </p:nvSpPr>
        <p:spPr>
          <a:xfrm>
            <a:off x="5106924" y="2331720"/>
            <a:ext cx="1975104" cy="548640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200">
                <a:solidFill>
                  <a:srgbClr val="FBE695"/>
                </a:solidFill>
                <a:latin typeface="Poppins Light"/>
              </a:rPr>
              <a:t>VERIFY</a:t>
            </a:r>
          </a:p>
        </p:txBody>
      </p:sp>
      <p:sp>
        <p:nvSpPr>
          <p:cNvPr id="147" name="Chevron 146"/>
          <p:cNvSpPr/>
          <p:nvPr/>
        </p:nvSpPr>
        <p:spPr>
          <a:xfrm>
            <a:off x="7237476" y="2331720"/>
            <a:ext cx="1975104" cy="548640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200">
                <a:solidFill>
                  <a:srgbClr val="FBE695"/>
                </a:solidFill>
                <a:latin typeface="Poppins Light"/>
              </a:rPr>
              <a:t>PACKAGE</a:t>
            </a:r>
          </a:p>
        </p:txBody>
      </p:sp>
      <p:sp>
        <p:nvSpPr>
          <p:cNvPr id="148" name="Chevron 147"/>
          <p:cNvSpPr/>
          <p:nvPr/>
        </p:nvSpPr>
        <p:spPr>
          <a:xfrm>
            <a:off x="9368028" y="2331720"/>
            <a:ext cx="1975104" cy="548640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200">
                <a:solidFill>
                  <a:srgbClr val="FBE695"/>
                </a:solidFill>
                <a:latin typeface="Poppins Light"/>
              </a:rPr>
              <a:t>REPORT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66928" y="3200400"/>
            <a:ext cx="5349240" cy="278892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41248" y="33832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ON THE CALL · BEFORE THE PIN</a:t>
            </a:r>
          </a:p>
        </p:txBody>
      </p:sp>
      <p:sp>
        <p:nvSpPr>
          <p:cNvPr id="151" name="Oval 150"/>
          <p:cNvSpPr/>
          <p:nvPr/>
        </p:nvSpPr>
        <p:spPr>
          <a:xfrm>
            <a:off x="886968" y="3840480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325880" y="3858768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AI flags scam talk + pressure · in Hindi</a:t>
            </a:r>
          </a:p>
        </p:txBody>
      </p:sp>
      <p:sp>
        <p:nvSpPr>
          <p:cNvPr id="153" name="Oval 152"/>
          <p:cNvSpPr/>
          <p:nvPr/>
        </p:nvSpPr>
        <p:spPr>
          <a:xfrm>
            <a:off x="886968" y="4498848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25880" y="4517136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PAUSE screen fires · call held, elder warned</a:t>
            </a:r>
          </a:p>
        </p:txBody>
      </p:sp>
      <p:sp>
        <p:nvSpPr>
          <p:cNvPr id="155" name="Oval 154"/>
          <p:cNvSpPr/>
          <p:nvPr/>
        </p:nvSpPr>
        <p:spPr>
          <a:xfrm>
            <a:off x="886968" y="5157216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25880" y="5175504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Family confirms, challenges, or kills the payment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172200" y="3200400"/>
            <a:ext cx="5449824" cy="278892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446520" y="33832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AFTER THE CALL · EVIDENCE</a:t>
            </a:r>
          </a:p>
        </p:txBody>
      </p:sp>
      <p:sp>
        <p:nvSpPr>
          <p:cNvPr id="159" name="Oval 158"/>
          <p:cNvSpPr/>
          <p:nvPr/>
        </p:nvSpPr>
        <p:spPr>
          <a:xfrm>
            <a:off x="6492240" y="3840480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931152" y="3858768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One-tap report to 1930 / Chakshu</a:t>
            </a:r>
          </a:p>
        </p:txBody>
      </p:sp>
      <p:sp>
        <p:nvSpPr>
          <p:cNvPr id="161" name="Oval 160"/>
          <p:cNvSpPr/>
          <p:nvPr/>
        </p:nvSpPr>
        <p:spPr>
          <a:xfrm>
            <a:off x="6492240" y="4370832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31152" y="4389120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Tamper-proof evidence packet (sha256 chain)</a:t>
            </a:r>
          </a:p>
        </p:txBody>
      </p:sp>
      <p:sp>
        <p:nvSpPr>
          <p:cNvPr id="163" name="Oval 162"/>
          <p:cNvSpPr/>
          <p:nvPr/>
        </p:nvSpPr>
        <p:spPr>
          <a:xfrm>
            <a:off x="6492240" y="4901184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931152" y="4919472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Timestamps, transcript spans, risk reasons</a:t>
            </a:r>
          </a:p>
        </p:txBody>
      </p:sp>
      <p:sp>
        <p:nvSpPr>
          <p:cNvPr id="165" name="Oval 164"/>
          <p:cNvSpPr/>
          <p:nvPr/>
        </p:nvSpPr>
        <p:spPr>
          <a:xfrm>
            <a:off x="6492240" y="5431536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★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931152" y="5449823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Premium tier: cloud-first-answer · OTP-bot proof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66928" y="619963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77240" y="6291072"/>
            <a:ext cx="10607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BE695"/>
                </a:solidFill>
                <a:latin typeface="Poppins Light"/>
              </a:rPr>
              <a:t>India's first call-state + UPI-tripwire + evidence fusion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7" name="Google Shape;84;p13_r1_r25_r1_r24_r1_r27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98;p14_r2_r26_r2_r25_r2_r28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10;p14_r16_r32_r15_r30_r15_r3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11;p14_r17_r33_r16_r31_r16_r3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04</a:t>
            </a:r>
          </a:p>
        </p:txBody>
      </p:sp>
      <p:pic>
        <p:nvPicPr>
          <p:cNvPr id="32" name="Picture 6_r18_r34_r17_r32_r17_r35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40" name="Rectangle 139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58368" y="6071616"/>
            <a:ext cx="237744" cy="237744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1298448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THE MARKET · AND THE GRAVEYARD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₹22,846 cr lost in 2024 alone · 2.27M complaints · every incumbent misses the moment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66928" y="2286000"/>
            <a:ext cx="2487168" cy="107899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68096" y="2395728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BE695"/>
                </a:solidFill>
                <a:latin typeface="Playfair Display"/>
              </a:rPr>
              <a:t>2,268,346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68096" y="2798064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cyber-fraud complaints 2024 · 5× in 3 years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200400" y="2286000"/>
            <a:ext cx="2487168" cy="107899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401568" y="2395728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BE695"/>
                </a:solidFill>
                <a:latin typeface="Playfair Display"/>
              </a:rPr>
              <a:t>₹22,845.7 cr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01568" y="2798064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reported losses 2024 · 10× in 3 years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66928" y="3493008"/>
            <a:ext cx="2487168" cy="107899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68096" y="3602736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BE695"/>
                </a:solidFill>
                <a:latin typeface="Playfair Display"/>
              </a:rPr>
              <a:t>137.9 M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68096" y="4005072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elders 60+ · 85.5% of households own a smartphone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200400" y="3493008"/>
            <a:ext cx="2487168" cy="107899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01568" y="3602736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BE695"/>
                </a:solidFill>
                <a:latin typeface="Playfair Display"/>
              </a:rPr>
              <a:t>47%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401568" y="4005072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Indians hit by AI voice-clone scams · 83% lost money (McAfee)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943600" y="2286000"/>
            <a:ext cx="5678424" cy="41148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217920" y="24505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WHO'S IN THE LANE</a:t>
            </a:r>
          </a:p>
        </p:txBody>
      </p:sp>
      <p:sp>
        <p:nvSpPr>
          <p:cNvPr id="156" name="Oval 155"/>
          <p:cNvSpPr/>
          <p:nvPr/>
        </p:nvSpPr>
        <p:spPr>
          <a:xfrm>
            <a:off x="6217920" y="2871216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547104" y="285292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oppins Light"/>
              </a:rPr>
              <a:t>Truecaller · 500M MAU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caller ID only · no audio, no coercion semantics</a:t>
            </a:r>
          </a:p>
        </p:txBody>
      </p:sp>
      <p:sp>
        <p:nvSpPr>
          <p:cNvPr id="158" name="Oval 157"/>
          <p:cNvSpPr/>
          <p:nvPr/>
        </p:nvSpPr>
        <p:spPr>
          <a:xfrm>
            <a:off x="6217920" y="3474720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547104" y="34564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oppins Light"/>
              </a:rPr>
              <a:t>Pixel / Galaxy Scam Detection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English-first, device-locked, no evidence</a:t>
            </a:r>
          </a:p>
        </p:txBody>
      </p:sp>
      <p:sp>
        <p:nvSpPr>
          <p:cNvPr id="160" name="Oval 159"/>
          <p:cNvSpPr/>
          <p:nvPr/>
        </p:nvSpPr>
        <p:spPr>
          <a:xfrm>
            <a:off x="6217920" y="4078224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547104" y="405993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oppins Light"/>
              </a:rPr>
              <a:t>Hiya / Pindrop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enterprise-only, English, no India consumer product</a:t>
            </a:r>
          </a:p>
        </p:txBody>
      </p:sp>
      <p:sp>
        <p:nvSpPr>
          <p:cNvPr id="162" name="Oval 161"/>
          <p:cNvSpPr/>
          <p:nvPr/>
        </p:nvSpPr>
        <p:spPr>
          <a:xfrm>
            <a:off x="6217920" y="4681728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547104" y="466344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oppins Light"/>
              </a:rPr>
              <a:t>SeniorShield.ai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1K+ downloads, user-invoked, no fusion</a:t>
            </a:r>
          </a:p>
        </p:txBody>
      </p:sp>
      <p:sp>
        <p:nvSpPr>
          <p:cNvPr id="164" name="Oval 163"/>
          <p:cNvSpPr/>
          <p:nvPr/>
        </p:nvSpPr>
        <p:spPr>
          <a:xfrm>
            <a:off x="6217920" y="5285232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547104" y="526694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oppins Light"/>
              </a:rPr>
              <a:t>PhonePe Protect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no call context · acts AFTER the transaction</a:t>
            </a:r>
          </a:p>
        </p:txBody>
      </p:sp>
      <p:sp>
        <p:nvSpPr>
          <p:cNvPr id="166" name="Oval 165"/>
          <p:cNvSpPr/>
          <p:nvPr/>
        </p:nvSpPr>
        <p:spPr>
          <a:xfrm>
            <a:off x="6217920" y="5888736"/>
            <a:ext cx="219456" cy="21945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★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547104" y="587044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BE695"/>
                </a:solidFill>
                <a:latin typeface="Poppins Light"/>
              </a:rPr>
              <a:t>SATARK · 4.18% EER vs 36 to 64% generic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no public Hindi anti-spoof benchmark (900+ citations checked)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217920" y="6163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FBE695"/>
                </a:solidFill>
                <a:latin typeface="Poppins Light"/>
              </a:rPr>
              <a:t>Attacker tooling: ElevenLabs 1-2 min · GPT-SoVITS 5s · RVC real-time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66928" y="4700016"/>
            <a:ext cx="5230368" cy="162763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41248" y="48280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THE ELDER-FINTECH GRAVEYARD</a:t>
            </a:r>
          </a:p>
        </p:txBody>
      </p:sp>
      <p:sp>
        <p:nvSpPr>
          <p:cNvPr id="171" name="Oval 170"/>
          <p:cNvSpPr/>
          <p:nvPr/>
        </p:nvSpPr>
        <p:spPr>
          <a:xfrm>
            <a:off x="841248" y="5138927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✕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70432" y="51206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Charlie · $23M raised, DEAD (Jan 2026)</a:t>
            </a:r>
          </a:p>
        </p:txBody>
      </p:sp>
      <p:sp>
        <p:nvSpPr>
          <p:cNvPr id="173" name="Oval 172"/>
          <p:cNvSpPr/>
          <p:nvPr/>
        </p:nvSpPr>
        <p:spPr>
          <a:xfrm>
            <a:off x="841248" y="5522975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✕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70432" y="55046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Kalgera · pivoted consumer → B2B</a:t>
            </a:r>
          </a:p>
        </p:txBody>
      </p:sp>
      <p:sp>
        <p:nvSpPr>
          <p:cNvPr id="175" name="Oval 174"/>
          <p:cNvSpPr/>
          <p:nvPr/>
        </p:nvSpPr>
        <p:spPr>
          <a:xfrm>
            <a:off x="841248" y="5907023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✕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70432" y="588873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True Link · SURVIVED 250K+ families: control in the payment path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66928" y="6400800"/>
            <a:ext cx="11055096" cy="384048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77240" y="6446520"/>
            <a:ext cx="10607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FBE695"/>
                </a:solidFill>
                <a:latin typeface="Poppins Light"/>
              </a:rPr>
              <a:t>Global proof: Japan +116% YoY · US $9.3B (60+ cohort) · Arup $25.6M deepfake meeting · not India-only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18FF61-1857-DD5F-D4B4-32B1030BFE8C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1AED31AE-ABCF-23A6-5C8B-83D0AC31EA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1F32D93C-7343-8AF4-F453-702DCD511F7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2B5A-0D8D-0AB1-E15B-5102336B7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53" name="Rectangle 152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78240" y="3657600"/>
            <a:ext cx="5486400" cy="365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0" b="1">
                <a:solidFill>
                  <a:srgbClr val="FBE695">
                    <a:alpha val="5000"/>
                  </a:srgbClr>
                </a:solidFill>
                <a:solidFill>
                  <a:srgbClr val="FBE695"/>
                </a:solidFill>
                <a:latin typeface="Playfair Display"/>
              </a:rPr>
              <a:t>L0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6928" y="1298448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WHERE THE CALL GOES · AND WHERE IT GETS HACKED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Every hop is a trust boundary · nobody owns the phone moment but 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03504" y="2350008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566928" y="228600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 w="1524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566928" y="2176272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2700">
            <a:solidFill>
              <a:srgbClr val="D4AF3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13232" y="2395728"/>
            <a:ext cx="231343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ATTACKER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CLI spoofing · number faked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AI-cloned voice, minutes, pennies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SIM box / grey routes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OTP social engineering</a:t>
            </a:r>
          </a:p>
          <a:p>
            <a:pPr algn="l">
              <a:lnSpc>
                <a:spcPct val="105000"/>
              </a:lnSpc>
            </a:pPr>
            <a:r>
              <a:rPr sz="850" b="1">
                <a:solidFill>
                  <a:srgbClr val="FBE695"/>
                </a:solidFill>
                <a:latin typeface="Poppins Light"/>
              </a:rPr>
              <a:t>cost of attack ≈ ₹0</a:t>
            </a:r>
          </a:p>
        </p:txBody>
      </p:sp>
      <p:sp>
        <p:nvSpPr>
          <p:cNvPr id="160" name="Chevron 159"/>
          <p:cNvSpPr/>
          <p:nvPr/>
        </p:nvSpPr>
        <p:spPr>
          <a:xfrm>
            <a:off x="3186684" y="3525012"/>
            <a:ext cx="182880" cy="310896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3419856" y="2350008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3383280" y="228600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 w="1524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3383280" y="2176272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2700">
            <a:solidFill>
              <a:srgbClr val="D4AF3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529584" y="2395728"/>
            <a:ext cx="231343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CARRIER NETWORK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SS7 / Diameter abuse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SIP header forgery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call-forwarding reroute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DoT blocks 1.35 cr spoofed calls / 24h</a:t>
            </a:r>
          </a:p>
          <a:p>
            <a:pPr algn="l">
              <a:lnSpc>
                <a:spcPct val="105000"/>
              </a:lnSpc>
            </a:pPr>
            <a:r>
              <a:rPr sz="850" b="1">
                <a:solidFill>
                  <a:srgbClr val="FBE695"/>
                </a:solidFill>
                <a:latin typeface="Poppins Light"/>
              </a:rPr>
              <a:t>IMS SIP · VoLTE · 5G VoNR</a:t>
            </a:r>
          </a:p>
        </p:txBody>
      </p:sp>
      <p:sp>
        <p:nvSpPr>
          <p:cNvPr id="165" name="Chevron 164"/>
          <p:cNvSpPr/>
          <p:nvPr/>
        </p:nvSpPr>
        <p:spPr>
          <a:xfrm>
            <a:off x="6003036" y="3525012"/>
            <a:ext cx="182880" cy="310896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6236208" y="2350008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6199632" y="228600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 w="1524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6199632" y="2176272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2700">
            <a:solidFill>
              <a:srgbClr val="D4AF3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45936" y="2395728"/>
            <a:ext cx="231343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LAST MILE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false base station (IMSI catcher)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2G downgrade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caller ID = a CLAIM, not proof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STIR/SHAKEN proves a provider, not a person</a:t>
            </a:r>
          </a:p>
          <a:p>
            <a:pPr algn="l">
              <a:lnSpc>
                <a:spcPct val="105000"/>
              </a:lnSpc>
            </a:pPr>
            <a:r>
              <a:rPr sz="850" b="1">
                <a:solidFill>
                  <a:srgbClr val="FBE695"/>
                </a:solidFill>
                <a:latin typeface="Poppins Light"/>
              </a:rPr>
              <a:t>identity ≠ fraud risk</a:t>
            </a:r>
          </a:p>
        </p:txBody>
      </p:sp>
      <p:sp>
        <p:nvSpPr>
          <p:cNvPr id="170" name="Chevron 169"/>
          <p:cNvSpPr/>
          <p:nvPr/>
        </p:nvSpPr>
        <p:spPr>
          <a:xfrm>
            <a:off x="8819388" y="3525012"/>
            <a:ext cx="182880" cy="310896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9052559" y="2350008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9015984" y="228600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232E52"/>
          </a:solidFill>
          <a:ln w="1524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9015984" y="2176272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E3A63"/>
          </a:solidFill>
          <a:ln w="12700">
            <a:solidFill>
              <a:srgbClr val="D4AF3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62288" y="2395728"/>
            <a:ext cx="231343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PHONE · OUR ZONE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L0 pre-ring screening, elder primed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L1 2s voice + coercion verdict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L2 payment tripwire before PIN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L3 evidence capsule → 1930</a:t>
            </a:r>
          </a:p>
          <a:p>
            <a:pPr algn="l">
              <a:lnSpc>
                <a:spcPct val="105000"/>
              </a:lnSpc>
            </a:pPr>
            <a:r>
              <a:rPr sz="850" b="1">
                <a:solidFill>
                  <a:srgbClr val="FBE695"/>
                </a:solidFill>
                <a:latin typeface="Poppins Light"/>
              </a:rPr>
              <a:t>T1 cloud answer · T2 FRI hold · T3 OEM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66928" y="5230368"/>
            <a:ext cx="11055096" cy="658368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BE695"/>
                </a:solidFill>
                <a:latin typeface="Poppins Light"/>
              </a:rPr>
              <a:t>WHO ELSE COULD STOP IT HERE?  Truecaller · caller ID only, hears nothing · Carriers · block numbers, not voices · Banks · act AFTER money moves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Poppins Light"/>
              </a:rPr>
              <a:t>NOBODY owns the seconds between 'scam detected' and 'payment made' · that gap is Satark</a:t>
            </a:r>
          </a:p>
        </p:txBody>
      </p:sp>
      <p:sp>
        <p:nvSpPr>
          <p:cNvPr id="177" name="Chevron 176"/>
          <p:cNvSpPr/>
          <p:nvPr/>
        </p:nvSpPr>
        <p:spPr>
          <a:xfrm>
            <a:off x="845819" y="6053328"/>
            <a:ext cx="1975104" cy="402336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050">
                <a:solidFill>
                  <a:srgbClr val="FBE695"/>
                </a:solidFill>
                <a:latin typeface="Poppins Light"/>
              </a:rPr>
              <a:t>PRE-RING</a:t>
            </a:r>
          </a:p>
        </p:txBody>
      </p:sp>
      <p:sp>
        <p:nvSpPr>
          <p:cNvPr id="178" name="Chevron 177"/>
          <p:cNvSpPr/>
          <p:nvPr/>
        </p:nvSpPr>
        <p:spPr>
          <a:xfrm>
            <a:off x="2976372" y="6053328"/>
            <a:ext cx="1975104" cy="402336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050">
                <a:solidFill>
                  <a:srgbClr val="FBE695"/>
                </a:solidFill>
                <a:latin typeface="Poppins Light"/>
              </a:rPr>
              <a:t>FIRST SECONDS</a:t>
            </a:r>
          </a:p>
        </p:txBody>
      </p:sp>
      <p:sp>
        <p:nvSpPr>
          <p:cNvPr id="179" name="Chevron 178"/>
          <p:cNvSpPr/>
          <p:nvPr/>
        </p:nvSpPr>
        <p:spPr>
          <a:xfrm>
            <a:off x="5106924" y="6053328"/>
            <a:ext cx="1975104" cy="402336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050">
                <a:solidFill>
                  <a:srgbClr val="FBE695"/>
                </a:solidFill>
                <a:latin typeface="Poppins Light"/>
              </a:rPr>
              <a:t>DURING</a:t>
            </a:r>
          </a:p>
        </p:txBody>
      </p:sp>
      <p:sp>
        <p:nvSpPr>
          <p:cNvPr id="180" name="Chevron 179"/>
          <p:cNvSpPr/>
          <p:nvPr/>
        </p:nvSpPr>
        <p:spPr>
          <a:xfrm>
            <a:off x="7237476" y="6053328"/>
            <a:ext cx="1975104" cy="402336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050">
                <a:solidFill>
                  <a:srgbClr val="FBE695"/>
                </a:solidFill>
                <a:latin typeface="Poppins Light"/>
              </a:rPr>
              <a:t>PAYMENT MOMENT</a:t>
            </a:r>
          </a:p>
        </p:txBody>
      </p:sp>
      <p:sp>
        <p:nvSpPr>
          <p:cNvPr id="181" name="Chevron 180"/>
          <p:cNvSpPr/>
          <p:nvPr/>
        </p:nvSpPr>
        <p:spPr>
          <a:xfrm>
            <a:off x="9368028" y="6053328"/>
            <a:ext cx="1975104" cy="402336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050">
                <a:solidFill>
                  <a:srgbClr val="FBE695"/>
                </a:solidFill>
                <a:latin typeface="Poppins Light"/>
              </a:rPr>
              <a:t>HANG-UP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6510528"/>
            <a:ext cx="11055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Our loop runs on every hop we can reach: pre-ring (L0) → first seconds (L1) → payment (L2) → hang-up (L3) · cloud tier (T1)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9BBD4A-0CA1-32F3-26D6-3379A9124AC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E85BF679-52A2-A2B8-04BF-1A2CCF3119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6A9C8AA2-5CCF-3436-C5FD-C0ADC42FFDE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687175" y="6467475"/>
            <a:ext cx="219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9AD2-9821-3F8D-A3D6-35A48800D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77" name="Rectangle 176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66928" y="1298448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TECHNICAL APPROACH · BUILT &amp; FEASIBLE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Measured, not promised · and honest about the platform wall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566928" y="2212848"/>
            <a:ext cx="11055096" cy="105156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41248" y="23591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THE STACK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841248" y="2724912"/>
            <a:ext cx="740664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Python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728216" y="2724912"/>
            <a:ext cx="818388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PyTorch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2692908" y="2724912"/>
            <a:ext cx="740664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AASIST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579876" y="2724912"/>
            <a:ext cx="1984248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faster-whisper (Hindi)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710428" y="272491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Coercion lexicon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374636" y="2724912"/>
            <a:ext cx="1440180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sha256 evidence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66928" y="3456432"/>
            <a:ext cx="11055096" cy="109728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41248" y="36027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THE FLOW</a:t>
            </a:r>
          </a:p>
        </p:txBody>
      </p:sp>
      <p:sp>
        <p:nvSpPr>
          <p:cNvPr id="189" name="Chevron 188"/>
          <p:cNvSpPr/>
          <p:nvPr/>
        </p:nvSpPr>
        <p:spPr>
          <a:xfrm>
            <a:off x="800099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audio</a:t>
            </a:r>
          </a:p>
        </p:txBody>
      </p:sp>
      <p:sp>
        <p:nvSpPr>
          <p:cNvPr id="190" name="Chevron 189"/>
          <p:cNvSpPr/>
          <p:nvPr/>
        </p:nvSpPr>
        <p:spPr>
          <a:xfrm>
            <a:off x="2327148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anti-spoof</a:t>
            </a:r>
          </a:p>
        </p:txBody>
      </p:sp>
      <p:sp>
        <p:nvSpPr>
          <p:cNvPr id="191" name="Chevron 190"/>
          <p:cNvSpPr/>
          <p:nvPr/>
        </p:nvSpPr>
        <p:spPr>
          <a:xfrm>
            <a:off x="3854196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coercion</a:t>
            </a:r>
          </a:p>
        </p:txBody>
      </p:sp>
      <p:sp>
        <p:nvSpPr>
          <p:cNvPr id="192" name="Chevron 191"/>
          <p:cNvSpPr/>
          <p:nvPr/>
        </p:nvSpPr>
        <p:spPr>
          <a:xfrm>
            <a:off x="5381244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verdict</a:t>
            </a:r>
          </a:p>
        </p:txBody>
      </p:sp>
      <p:sp>
        <p:nvSpPr>
          <p:cNvPr id="193" name="Chevron 192"/>
          <p:cNvSpPr/>
          <p:nvPr/>
        </p:nvSpPr>
        <p:spPr>
          <a:xfrm>
            <a:off x="6908292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PAUSE</a:t>
            </a:r>
          </a:p>
        </p:txBody>
      </p:sp>
      <p:sp>
        <p:nvSpPr>
          <p:cNvPr id="194" name="Chevron 193"/>
          <p:cNvSpPr/>
          <p:nvPr/>
        </p:nvSpPr>
        <p:spPr>
          <a:xfrm>
            <a:off x="8435340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evidence</a:t>
            </a:r>
          </a:p>
        </p:txBody>
      </p:sp>
      <p:sp>
        <p:nvSpPr>
          <p:cNvPr id="195" name="Chevron 194"/>
          <p:cNvSpPr/>
          <p:nvPr/>
        </p:nvSpPr>
        <p:spPr>
          <a:xfrm>
            <a:off x="9962388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1930 report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566928" y="4736592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22960" y="4846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&lt;500ms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22960" y="528523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warm verdict · measured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4334256" y="4736592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590288" y="4846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0.9919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590288" y="528523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held-out acc · 0/100 FP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8101583" y="4736592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357616" y="4846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66.3ms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357616" y="528523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per call · 3-crop vote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66928" y="5925312"/>
            <a:ext cx="11055096" cy="713232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777240" y="59984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BE695"/>
                </a:solidFill>
                <a:latin typeface="Poppins Light"/>
              </a:rPr>
              <a:t>THE WALL · and how we beat it: consumer apps can't record live calls (VOICE_CALL is privileged).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We own the moments Android allows: pre-ring · payment screen · notification · post-call file · L0 to L4 + CPaaS tiers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07</a:t>
            </a:r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74" name="Rectangle 173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052560" y="3840480"/>
            <a:ext cx="5486400" cy="365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0" b="1">
                <a:solidFill>
                  <a:srgbClr val="FBE695">
                    <a:alpha val="5000"/>
                  </a:srgbClr>
                </a:solidFill>
                <a:solidFill>
                  <a:srgbClr val="FBE695"/>
                </a:solidFill>
                <a:latin typeface="Playfair Display"/>
              </a:rPr>
              <a:t>0.37%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928" y="1371600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IMPACT · SECONDS TO INTERVENTION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Measured on outcomes, not model scores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66928" y="2377440"/>
            <a:ext cx="11055096" cy="1737360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41248" y="257860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BE695"/>
                </a:solidFill>
                <a:latin typeface="Playfair Display"/>
              </a:rPr>
              <a:t>SECONDS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41248" y="34290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to intervention · vs minutes-to-loss. Every second is a payment that didn't move. The ₹4,057.7cr runway is the market.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766560" y="2615184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Playfair Display"/>
              </a:rPr>
              <a:t>0.37%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766560" y="312724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</a:rPr>
              <a:t>of ₹56,087cr reported is ever refunded · prevention is the only answer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FBE695"/>
                </a:solidFill>
                <a:latin typeface="Poppins Light"/>
              </a:rPr>
              <a:t>RBI 2027 liability shift: banks become buyers of this evidence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66928" y="43434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41247" y="4526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BE695"/>
                </a:solidFill>
                <a:latin typeface="Playfair Display"/>
              </a:rPr>
              <a:t>SOCIAL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41247" y="495604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elders stay independent · families stay connected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334256" y="43434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608576" y="4526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BE695"/>
                </a:solidFill>
                <a:latin typeface="Playfair Display"/>
              </a:rPr>
              <a:t>ECONOMIC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608576" y="495604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feeds ₹7,130cr-saved reporting rails (1930 / FRI)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101583" y="43434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375904" y="4526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BE695"/>
                </a:solidFill>
                <a:latin typeface="Playfair Display"/>
              </a:rPr>
              <a:t>NATIONAL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375904" y="495604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digital sovereignty · DPDP-compliant by design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4;p13_r1_r19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8;p14_r2_r20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0;p14_r16_r2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1;p14_r17_r27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08</a:t>
            </a:r>
          </a:p>
        </p:txBody>
      </p:sp>
      <p:pic>
        <p:nvPicPr>
          <p:cNvPr id="13" name="Picture 6_r18_r28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28" name="Rectangle 127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66928" y="1298448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BE695"/>
                </a:solidFill>
                <a:latin typeface="Playfair Display"/>
              </a:rPr>
              <a:t>WORKING PROTOTYPE · ENGINE REAL, UI IN BUILD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What exists is real and measured · the screens show the spec, on a real device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66928" y="2331720"/>
            <a:ext cx="5577840" cy="3977639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phone-victi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2560320"/>
            <a:ext cx="1828800" cy="3644153"/>
          </a:xfrm>
          <a:prstGeom prst="rect">
            <a:avLst/>
          </a:prstGeom>
        </p:spPr>
      </p:pic>
      <p:pic>
        <p:nvPicPr>
          <p:cNvPr id="132" name="Picture 131" descr="phone-famil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2560320"/>
            <a:ext cx="1828800" cy="3644153"/>
          </a:xfrm>
          <a:prstGeom prst="rect">
            <a:avLst/>
          </a:prstGeom>
        </p:spPr>
      </p:pic>
      <p:sp>
        <p:nvSpPr>
          <p:cNvPr id="133" name="Rounded Rectangle 132"/>
          <p:cNvSpPr/>
          <p:nvPr/>
        </p:nvSpPr>
        <p:spPr>
          <a:xfrm>
            <a:off x="5120640" y="223113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850" b="1">
                <a:solidFill>
                  <a:srgbClr val="1B2340"/>
                </a:solidFill>
                <a:latin typeface="Poppins Light"/>
              </a:rPr>
              <a:t>CONCEPT UI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77240" y="6355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F2EEFA"/>
                </a:solidFill>
                <a:latin typeface="Poppins Light"/>
              </a:rPr>
              <a:t>Real device photo · spec screens composited. Final design under build.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00800" y="2331720"/>
            <a:ext cx="5221224" cy="14630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75120" y="24688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ENGINE · BUILT &amp; VERIFIED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75120" y="276148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BE695"/>
                </a:solidFill>
                <a:latin typeface="Playfair Display"/>
              </a:rPr>
              <a:t>0.9919 acc · 0/100 FP · &lt;500ms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675120" y="327355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F2EEFA"/>
                </a:solidFill>
                <a:latin typeface="Poppins Light"/>
              </a:rPr>
              <a:t>AASIST-hindi · 3-crop majority vote · held-out eval, not field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400800" y="3950208"/>
            <a:ext cx="5221224" cy="13716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evidence-sat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4114800"/>
            <a:ext cx="1371600" cy="1939834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8275320" y="4133087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BE695"/>
                </a:solidFill>
                <a:latin typeface="Poppins Light"/>
              </a:rPr>
              <a:t>EVIDENCE PACKET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F2EEFA"/>
                </a:solidFill>
                <a:latin typeface="Poppins Light"/>
              </a:rPr>
              <a:t>sha256 chain-of-custody → 1930-ready PDF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F2EEFA"/>
                </a:solidFill>
                <a:latin typeface="Poppins Light"/>
              </a:rPr>
              <a:t>12 packets generated by the fusion battery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400800" y="5486400"/>
            <a:ext cx="5221224" cy="82296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675120" y="55961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BE695"/>
                </a:solidFill>
                <a:latin typeface="Playfair Display"/>
                <a:hlinkClick r:id="rId11"/>
              </a:rPr>
              <a:t>github.com/harshgounder/eldershield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engine · coercion · evidence · battery tests · public repo (click to open)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16A02-64BD-FBFB-2E8F-FE68591AE8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0FC4E61E-2819-88A1-4D2E-25F6C534E60D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62BE52A-6744-24D5-7827-BF7ABFAE66D8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8"/>
          <p:cNvSpPr txBox="1"/>
          <p:nvPr/>
        </p:nvSpPr>
        <p:spPr>
          <a:xfrm>
            <a:off x="11696700" y="6467475"/>
            <a:ext cx="20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4B2B-35C3-CD70-ED94-211E6AF95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  <p:sp>
        <p:nvSpPr>
          <p:cNvPr id="184" name="Rectangle 183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D7515F0B-1E18-86AF-90B0-D093B0E72B20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566928" y="1325880"/>
            <a:ext cx="11055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BE695"/>
                </a:solidFill>
                <a:latin typeface="Playfair Display"/>
              </a:rPr>
              <a:t>RESEARCH AND REFERENCES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566928" y="2011680"/>
            <a:ext cx="11055096" cy="27432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68680" y="2212848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8"/>
              </a:rPr>
              <a:t>1. RBI/2024-25/105 · voice/SMS fraud safeguards (Jan 2025) · rbi.org.in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68680" y="26151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9"/>
              </a:rPr>
              <a:t>2. RBI Auth Directions 2025 · 2FA mandatory Apr 2026 · rbi.org.in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68680" y="3017520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10"/>
              </a:rPr>
              <a:t>3. CERT-In CIAD-2024-0060 · Deepfakes: threats &amp; countermeasures · cert-in.org.in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68680" y="3419856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11"/>
              </a:rPr>
              <a:t>4. DoT FRI: 1000+ banks · ₹660 crore prevented (Dec 2025) · pib.gov.in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68680" y="3822191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12"/>
              </a:rPr>
              <a:t>5. SC order Aug 4 2026 · digital-arrest complaints 1,23,672 → 16,377 (I4C data) · thehindubusinessline.com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" y="4224528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13"/>
              </a:rPr>
              <a:t>6. ASVspoof 2021 LA + NASK real-fraud benchmark (WACV 2026) · zenodo.org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66928" y="4983480"/>
            <a:ext cx="11055096" cy="1234440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68680" y="512064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FBE695"/>
                </a:solidFill>
                <a:latin typeface="Playfair Display"/>
              </a:rPr>
              <a:t>SATARK · THE SHIELD EVERY INDIAN FAMILY DESERVES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68680" y="559612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Recognize → Interrupt → Verify → Package → Report · Team 511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68680" y="6355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>
                <a:solidFill>
                  <a:srgbClr val="888888"/>
                </a:solidFill>
                <a:latin typeface="Poppins Light"/>
              </a:rPr>
              <a:t>GenAI used for support only · every output cross-verified by our QA process. Model training, evaluation and this submission's technical claims are our own work.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188</Words>
  <Application>Microsoft Macintosh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Light</vt:lpstr>
      <vt:lpstr>Times New Roman</vt:lpstr>
      <vt:lpstr>Playfair Display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Keshav Anand [CCE - 2024]</cp:lastModifiedBy>
  <cp:revision>9</cp:revision>
  <dcterms:modified xsi:type="dcterms:W3CDTF">2026-07-06T08:50:05Z</dcterms:modified>
</cp:coreProperties>
</file>