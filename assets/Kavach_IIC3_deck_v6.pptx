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63" r:id="rId26"/>
    <p:sldId id="257" r:id="rId3"/>
    <p:sldId id="266" r:id="rId8"/>
    <p:sldId id="258" r:id="rId4"/>
    <p:sldId id="259" r:id="rId5"/>
    <p:sldId id="260" r:id="rId6"/>
    <p:sldId id="264" r:id="rId27"/>
    <p:sldId id="261" r:id="rId7"/>
  </p:sldIdLst>
  <p:sldSz cx="12192000" cy="6858000"/>
  <p:notesSz cx="6858000" cy="9144000"/>
  <p:embeddedFontLst>
    <p:embeddedFont>
      <p:font typeface="Playfair Display" pitchFamily="2" charset="77"/>
      <p:regular r:id="rId10"/>
      <p:bold r:id="rId11"/>
      <p:italic r:id="rId12"/>
      <p:boldItalic r:id="rId13"/>
    </p:embeddedFont>
    <p:embeddedFont>
      <p:font typeface="Poppins" pitchFamily="2" charset="77"/>
      <p:regular r:id="rId14"/>
      <p:bold r:id="rId15"/>
      <p:italic r:id="rId16"/>
      <p:boldItalic r:id="rId17"/>
    </p:embeddedFont>
    <p:embeddedFont>
      <p:font typeface="Poppins Light" panose="00000400000000000000" pitchFamily="2" charset="77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/>
    <p:restoredTop sz="94667"/>
  </p:normalViewPr>
  <p:slideViewPr>
    <p:cSldViewPr snapToGrid="0">
      <p:cViewPr varScale="1">
        <p:scale>
          <a:sx n="110" d="100"/>
          <a:sy n="110" d="100"/>
        </p:scale>
        <p:origin x="560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3.xml"/><Relationship Id="rId4" Type="http://schemas.openxmlformats.org/officeDocument/2006/relationships/slide" Target="slides/slide5.xml"/><Relationship Id="rId5" Type="http://schemas.openxmlformats.org/officeDocument/2006/relationships/slide" Target="slides/slide6.xml"/><Relationship Id="rId6" Type="http://schemas.openxmlformats.org/officeDocument/2006/relationships/slide" Target="slides/slide7.xml"/><Relationship Id="rId7" Type="http://schemas.openxmlformats.org/officeDocument/2006/relationships/slide" Target="slides/slide9.xml"/><Relationship Id="rId8" Type="http://schemas.openxmlformats.org/officeDocument/2006/relationships/slide" Target="slides/slide4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schemas.openxmlformats.org/officeDocument/2006/relationships/font" Target="fonts/font10.fntdata"/><Relationship Id="rId20" Type="http://schemas.openxmlformats.org/officeDocument/2006/relationships/font" Target="fonts/font11.fntdata"/><Relationship Id="rId21" Type="http://schemas.openxmlformats.org/officeDocument/2006/relationships/font" Target="fonts/font12.fntdata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2.xml"/><Relationship Id="rId27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8" name="Google Shape;12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8" name="Google Shape;1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1" name="Google Shape;16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0.png"/><Relationship Id="rId6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7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hyperlink" Target="https://github.com/harshgounder/kavach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7.png"/><Relationship Id="rId8" Type="http://schemas.openxmlformats.org/officeDocument/2006/relationships/hyperlink" Target="https://rbi.org.in/Scripts/NotificationUser.aspx?Id=12898" TargetMode="External"/><Relationship Id="rId9" Type="http://schemas.openxmlformats.org/officeDocument/2006/relationships/hyperlink" Target="https://rbi.org.in/Scripts/BS_ViewMasDirections.aspx?id=12888" TargetMode="External"/><Relationship Id="rId10" Type="http://schemas.openxmlformats.org/officeDocument/2006/relationships/hyperlink" Target="https://www.cert-in.org.in/s2cMainServlet?pageid=PUBVLNOTES02&amp;VLCODE=CIAD-2024-0060" TargetMode="External"/><Relationship Id="rId11" Type="http://schemas.openxmlformats.org/officeDocument/2006/relationships/hyperlink" Target="https://www.pib.gov.in/PressReleasePage.aspx?PRID=2207376" TargetMode="External"/><Relationship Id="rId12" Type="http://schemas.openxmlformats.org/officeDocument/2006/relationships/hyperlink" Target="https://www.thehindubusinessline.com/" TargetMode="External"/><Relationship Id="rId13" Type="http://schemas.openxmlformats.org/officeDocument/2006/relationships/hyperlink" Target="https://zenodo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57315" y="-88489"/>
            <a:ext cx="12457469" cy="7007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00175" y="414337"/>
            <a:ext cx="9391650" cy="60293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185511" y="1533525"/>
            <a:ext cx="7820977" cy="2215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INTERNATIONAL INNOVATION </a:t>
            </a:r>
            <a:r>
              <a:rPr lang="en-US" sz="4800" b="1" dirty="0">
                <a:solidFill>
                  <a:srgbClr val="F2EEF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CHALLENGE </a:t>
            </a:r>
            <a:r>
              <a:rPr lang="en-US" sz="4800" b="1" dirty="0">
                <a:solidFill>
                  <a:srgbClr val="F2EEFA"/>
                </a:solidFill>
                <a:latin typeface="Times New Roman" panose="02020603050405020304" pitchFamily="18" charset="0"/>
                <a:ea typeface="Playfair Display"/>
                <a:cs typeface="Times New Roman" panose="02020603050405020304" pitchFamily="18" charset="0"/>
                <a:sym typeface="Playfair Display"/>
              </a:rPr>
              <a:t>3.0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4471987" y="4005262"/>
            <a:ext cx="36766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Theme: Cybersecurity &amp; Digital Sovereignty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4471987" y="4557712"/>
            <a:ext cx="77724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KAVACH · India's Hindi-First Anti-Digital-Arrest Shield</a:t>
            </a:r>
            <a:endParaRPr dirty="0"/>
          </a:p>
          <a:p>
            <a:r>
              <a:rPr sz="1800" b="1">
                <a:solidFill>
                  <a:srgbClr val="FFFFFF"/>
                </a:solidFill>
              </a:rPr>
              <a:t>Recognize → Interrupt → Verify → Package → Report</a:t>
            </a:r>
          </a:p>
        </p:txBody>
      </p:sp>
      <p:sp>
        <p:nvSpPr>
          <p:cNvPr id="89" name="Google Shape;89;p13"/>
          <p:cNvSpPr txBox="1"/>
          <p:nvPr/>
        </p:nvSpPr>
        <p:spPr>
          <a:xfrm>
            <a:off x="4471987" y="5110162"/>
            <a:ext cx="36766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Team: 511</a:t>
            </a:r>
            <a:endParaRPr dirty="0"/>
          </a:p>
        </p:txBody>
      </p:sp>
      <p:pic>
        <p:nvPicPr>
          <p:cNvPr id="90" name="Google Shape;90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43362" y="40338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043362" y="4586287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043362" y="513873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DE7922C-D65A-4A22-8F20-6A8FB0158DC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22323" y="588918"/>
            <a:ext cx="2844187" cy="8731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53A44B1-CD48-B725-0E2D-7F4DFB45569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91713" y="588918"/>
            <a:ext cx="1877963" cy="972367"/>
          </a:xfrm>
          <a:prstGeom prst="rect">
            <a:avLst/>
          </a:prstGeom>
        </p:spPr>
      </p:pic>
      <p:sp>
        <p:nvSpPr>
          <p:cNvPr id="93" name="Rectangle 92"/>
          <p:cNvSpPr/>
          <p:nvPr/>
        </p:nvSpPr>
        <p:spPr>
          <a:xfrm>
            <a:off x="-274320" y="-274320"/>
            <a:ext cx="12710160" cy="7406640"/>
          </a:xfrm>
          <a:prstGeom prst="rect">
            <a:avLst/>
          </a:prstGeom>
          <a:solidFill>
            <a:srgbClr val="141A2E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Google Shape;111;p14">
            <a:extLst>
              <a:ext uri="{FF2B5EF4-FFF2-40B4-BE49-F238E27FC236}">
                <a16:creationId xmlns:a16="http://schemas.microsoft.com/office/drawing/2014/main" id="{B0B7FDCA-5857-D492-02A9-B3CA0036752A}"/>
              </a:ext>
            </a:extLst>
          </p:cNvPr>
          <p:cNvSpPr txBox="1"/>
          <p:nvPr/>
        </p:nvSpPr>
        <p:spPr>
          <a:xfrm>
            <a:off x="11706225" y="6467475"/>
            <a:ext cx="2000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01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22960" y="587044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0">
                <a:solidFill>
                  <a:srgbClr val="FBE695"/>
                </a:solidFill>
                <a:latin typeface="Poppins Light"/>
              </a:rPr>
              <a:t>₹4,057.7 cr lost · 2,97,727 complaints · no Hindi consumer shield (2022 to May 2026)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84;p13_r1_r25" descr="image.png">
            <a:extLst>
              <a:ext uri="{FF2B5EF4-FFF2-40B4-BE49-F238E27FC236}">
                <a16:creationId xmlns:a16="http://schemas.microsoft.com/office/drawing/2014/main" id="{A7427FBB-6B82-28C2-C807-6A3DF49A1F1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57315" y="-88489"/>
            <a:ext cx="12457469" cy="7007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8;p14_r2_r26" descr="image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0;p14_r16_r32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1;p14_r17_r33"/>
          <p:cNvSpPr txBox="1"/>
          <p:nvPr/>
        </p:nvSpPr>
        <p:spPr>
          <a:xfrm>
            <a:off x="11706225" y="6467475"/>
            <a:ext cx="2000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02</a:t>
            </a:r>
          </a:p>
        </p:txBody>
      </p:sp>
      <p:pic>
        <p:nvPicPr>
          <p:cNvPr id="15" name="Picture 6_r18_r34">
            <a:extLst>
              <a:ext uri="{FF2B5EF4-FFF2-40B4-BE49-F238E27FC236}">
                <a16:creationId xmlns:a16="http://schemas.microsoft.com/office/drawing/2014/main" id="{81D6A019-74ED-9001-54F2-BCA9F7EF5C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1386" y="134593"/>
            <a:ext cx="2259114" cy="1169718"/>
          </a:xfrm>
          <a:prstGeom prst="rect">
            <a:avLst/>
          </a:prstGeom>
        </p:spPr>
      </p:pic>
      <p:sp>
        <p:nvSpPr>
          <p:cNvPr id="140" name="Rectangle 139"/>
          <p:cNvSpPr/>
          <p:nvPr/>
        </p:nvSpPr>
        <p:spPr>
          <a:xfrm>
            <a:off x="-274320" y="-274320"/>
            <a:ext cx="12710160" cy="7406640"/>
          </a:xfrm>
          <a:prstGeom prst="rect">
            <a:avLst/>
          </a:prstGeom>
          <a:solidFill>
            <a:srgbClr val="141A2E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9692640" y="4206240"/>
            <a:ext cx="5486400" cy="3657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9000" b="1">
                <a:solidFill>
                  <a:srgbClr val="FBE695">
                    <a:alpha val="5000"/>
                  </a:srgbClr>
                </a:solidFill>
                <a:solidFill>
                  <a:srgbClr val="FBE695"/>
                </a:solidFill>
                <a:latin typeface="Playfair Display"/>
              </a:rPr>
              <a:t>₹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66928" y="1371600"/>
            <a:ext cx="1105509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BE695"/>
                </a:solidFill>
                <a:latin typeface="Playfair Display"/>
              </a:rPr>
              <a:t>INDIA'S LARGEST QUANTIFIED FRAUD · ₹4,057.7 CRORE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F2EEFA"/>
                </a:solidFill>
                <a:latin typeface="Poppins Light"/>
              </a:rPr>
              <a:t>AND THE VICTIM'S PHONE IS UNGUARDED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566928" y="2395728"/>
            <a:ext cx="5349240" cy="1170432"/>
          </a:xfrm>
          <a:prstGeom prst="roundRect">
            <a:avLst>
              <a:gd name="adj" fmla="val 8000"/>
            </a:avLst>
          </a:prstGeom>
          <a:solidFill>
            <a:srgbClr val="1B2340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41248" y="2542032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FBE695"/>
                </a:solidFill>
                <a:latin typeface="Playfair Display"/>
              </a:rPr>
              <a:t>₹4,057.7 cr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41248" y="3108960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F2EEFA"/>
                </a:solidFill>
                <a:latin typeface="Poppins Light"/>
              </a:rPr>
              <a:t>lost to digital-arrest scams (2022 · May 2026)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566928" y="3730752"/>
            <a:ext cx="5349240" cy="1170432"/>
          </a:xfrm>
          <a:prstGeom prst="roundRect">
            <a:avLst>
              <a:gd name="adj" fmla="val 8000"/>
            </a:avLst>
          </a:prstGeom>
          <a:solidFill>
            <a:srgbClr val="1B2340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41248" y="3877056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FBE695"/>
                </a:solidFill>
                <a:latin typeface="Playfair Display"/>
              </a:rPr>
              <a:t>2,97,727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41248" y="4443984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F2EEFA"/>
                </a:solidFill>
                <a:latin typeface="Poppins Light"/>
              </a:rPr>
              <a:t>complaints filed · I4C / NCRP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566928" y="5065776"/>
            <a:ext cx="5349240" cy="1170432"/>
          </a:xfrm>
          <a:prstGeom prst="roundRect">
            <a:avLst>
              <a:gd name="adj" fmla="val 8000"/>
            </a:avLst>
          </a:prstGeom>
          <a:solidFill>
            <a:srgbClr val="1B2340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841248" y="5212080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>
                <a:solidFill>
                  <a:srgbClr val="FBE695"/>
                </a:solidFill>
                <a:latin typeface="Playfair Display"/>
              </a:rPr>
              <a:t>3×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41248" y="5779008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F2EEFA"/>
                </a:solidFill>
                <a:latin typeface="Poppins Light"/>
              </a:rPr>
              <a:t>digital-arrest complaints 2022 → 2024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6172200" y="2395728"/>
            <a:ext cx="5449824" cy="4005072"/>
          </a:xfrm>
          <a:prstGeom prst="roundRect">
            <a:avLst>
              <a:gd name="adj" fmla="val 8000"/>
            </a:avLst>
          </a:prstGeom>
          <a:solidFill>
            <a:srgbClr val="1B2340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6446520" y="2578608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FBE695"/>
                </a:solidFill>
                <a:latin typeface="Poppins Light"/>
              </a:rPr>
              <a:t>HOW THE SCAM WORKS</a:t>
            </a:r>
          </a:p>
        </p:txBody>
      </p:sp>
      <p:sp>
        <p:nvSpPr>
          <p:cNvPr id="130" name="Oval 129"/>
          <p:cNvSpPr/>
          <p:nvPr/>
        </p:nvSpPr>
        <p:spPr>
          <a:xfrm>
            <a:off x="6492240" y="2999232"/>
            <a:ext cx="310896" cy="310896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F1035"/>
                </a:solidFill>
                <a:latin typeface="Poppins"/>
              </a:rPr>
              <a:t>01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949440" y="3017520"/>
            <a:ext cx="4480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F2EEFA"/>
                </a:solidFill>
                <a:latin typeface="Poppins Light"/>
              </a:rPr>
              <a:t>Fake 'CBI / police' call · arrest threat, stay on the line</a:t>
            </a:r>
          </a:p>
        </p:txBody>
      </p:sp>
      <p:sp>
        <p:nvSpPr>
          <p:cNvPr id="132" name="Oval 131"/>
          <p:cNvSpPr/>
          <p:nvPr/>
        </p:nvSpPr>
        <p:spPr>
          <a:xfrm>
            <a:off x="6492240" y="3803904"/>
            <a:ext cx="310896" cy="310896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F1035"/>
                </a:solidFill>
                <a:latin typeface="Poppins"/>
              </a:rPr>
              <a:t>02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949440" y="3822191"/>
            <a:ext cx="4480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F2EEFA"/>
                </a:solidFill>
                <a:latin typeface="Poppins Light"/>
              </a:rPr>
              <a:t>Victim isolated · forbidden from telling anyone</a:t>
            </a:r>
          </a:p>
        </p:txBody>
      </p:sp>
      <p:sp>
        <p:nvSpPr>
          <p:cNvPr id="134" name="Oval 133"/>
          <p:cNvSpPr/>
          <p:nvPr/>
        </p:nvSpPr>
        <p:spPr>
          <a:xfrm>
            <a:off x="6492240" y="4608576"/>
            <a:ext cx="310896" cy="310896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F1035"/>
                </a:solidFill>
                <a:latin typeface="Poppins"/>
              </a:rPr>
              <a:t>03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949440" y="4626864"/>
            <a:ext cx="4480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F2EEFA"/>
                </a:solidFill>
                <a:latin typeface="Poppins Light"/>
              </a:rPr>
              <a:t>Life savings moved via UPI within minutes</a:t>
            </a:r>
          </a:p>
        </p:txBody>
      </p:sp>
      <p:sp>
        <p:nvSpPr>
          <p:cNvPr id="136" name="Oval 135"/>
          <p:cNvSpPr/>
          <p:nvPr/>
        </p:nvSpPr>
        <p:spPr>
          <a:xfrm>
            <a:off x="6492240" y="5413248"/>
            <a:ext cx="310896" cy="310896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F1035"/>
                </a:solidFill>
                <a:latin typeface="Poppins"/>
              </a:rPr>
              <a:t>04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949440" y="5431536"/>
            <a:ext cx="44805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F2EEFA"/>
                </a:solidFill>
                <a:latin typeface="Poppins Light"/>
              </a:rPr>
              <a:t>The truth surfaces hours later · or never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566928" y="6236208"/>
            <a:ext cx="11055096" cy="502920"/>
          </a:xfrm>
          <a:prstGeom prst="roundRect">
            <a:avLst>
              <a:gd name="adj" fmla="val 8000"/>
            </a:avLst>
          </a:prstGeom>
          <a:solidFill>
            <a:srgbClr val="232E52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777240" y="6327648"/>
            <a:ext cx="106070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0">
                <a:solidFill>
                  <a:srgbClr val="FBE695"/>
                </a:solidFill>
                <a:latin typeface="Poppins Light"/>
              </a:rPr>
              <a:t>Fraud completes at ONE moment · the UPI payment. Nobody guards it.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84;p13_r1_r25" descr="image.png">
            <a:extLst>
              <a:ext uri="{FF2B5EF4-FFF2-40B4-BE49-F238E27FC236}">
                <a16:creationId xmlns:a16="http://schemas.microsoft.com/office/drawing/2014/main" id="{A7427FBB-6B82-28C2-C807-6A3DF49A1F1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57315" y="-88489"/>
            <a:ext cx="12457469" cy="7007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8;p14_r2_r26" descr="image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0;p14_r16_r32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1;p14_r17_r33"/>
          <p:cNvSpPr txBox="1"/>
          <p:nvPr/>
        </p:nvSpPr>
        <p:spPr>
          <a:xfrm>
            <a:off x="11706225" y="6467475"/>
            <a:ext cx="2000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03</a:t>
            </a:r>
          </a:p>
        </p:txBody>
      </p:sp>
      <p:pic>
        <p:nvPicPr>
          <p:cNvPr id="15" name="Picture 6_r18_r34">
            <a:extLst>
              <a:ext uri="{FF2B5EF4-FFF2-40B4-BE49-F238E27FC236}">
                <a16:creationId xmlns:a16="http://schemas.microsoft.com/office/drawing/2014/main" id="{81D6A019-74ED-9001-54F2-BCA9F7EF5C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1386" y="134593"/>
            <a:ext cx="2259114" cy="1169718"/>
          </a:xfrm>
          <a:prstGeom prst="rect">
            <a:avLst/>
          </a:prstGeom>
        </p:spPr>
      </p:pic>
      <p:sp>
        <p:nvSpPr>
          <p:cNvPr id="142" name="Rectangle 141"/>
          <p:cNvSpPr/>
          <p:nvPr/>
        </p:nvSpPr>
        <p:spPr>
          <a:xfrm>
            <a:off x="-274320" y="-274320"/>
            <a:ext cx="12710160" cy="7406640"/>
          </a:xfrm>
          <a:prstGeom prst="rect">
            <a:avLst/>
          </a:prstGeom>
          <a:solidFill>
            <a:srgbClr val="141A2E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566928" y="1298448"/>
            <a:ext cx="1105509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BE695"/>
                </a:solidFill>
                <a:latin typeface="Playfair Display"/>
              </a:rPr>
              <a:t>KAVACH · THE PRODUCT LOOP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F2EEFA"/>
                </a:solidFill>
                <a:latin typeface="Poppins Light"/>
              </a:rPr>
              <a:t>Recognize → Interrupt → Verify → Package → Report</a:t>
            </a:r>
          </a:p>
        </p:txBody>
      </p:sp>
      <p:sp>
        <p:nvSpPr>
          <p:cNvPr id="144" name="Chevron 143"/>
          <p:cNvSpPr/>
          <p:nvPr/>
        </p:nvSpPr>
        <p:spPr>
          <a:xfrm>
            <a:off x="845819" y="2331720"/>
            <a:ext cx="1975104" cy="548640"/>
          </a:xfrm>
          <a:prstGeom prst="chevron">
            <a:avLst/>
          </a:prstGeom>
          <a:solidFill>
            <a:srgbClr val="232E52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36576"/>
          <a:lstStyle/>
          <a:p>
            <a:pPr algn="ctr"/>
            <a:r>
              <a:rPr sz="1200">
                <a:solidFill>
                  <a:srgbClr val="FBE695"/>
                </a:solidFill>
                <a:latin typeface="Poppins Light"/>
              </a:rPr>
              <a:t>RECOGNIZE</a:t>
            </a:r>
          </a:p>
        </p:txBody>
      </p:sp>
      <p:sp>
        <p:nvSpPr>
          <p:cNvPr id="145" name="Chevron 144"/>
          <p:cNvSpPr/>
          <p:nvPr/>
        </p:nvSpPr>
        <p:spPr>
          <a:xfrm>
            <a:off x="2976372" y="2331720"/>
            <a:ext cx="1975104" cy="548640"/>
          </a:xfrm>
          <a:prstGeom prst="chevron">
            <a:avLst/>
          </a:prstGeom>
          <a:solidFill>
            <a:srgbClr val="232E52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36576"/>
          <a:lstStyle/>
          <a:p>
            <a:pPr algn="ctr"/>
            <a:r>
              <a:rPr sz="1200">
                <a:solidFill>
                  <a:srgbClr val="FBE695"/>
                </a:solidFill>
                <a:latin typeface="Poppins Light"/>
              </a:rPr>
              <a:t>INTERRUPT</a:t>
            </a:r>
          </a:p>
        </p:txBody>
      </p:sp>
      <p:sp>
        <p:nvSpPr>
          <p:cNvPr id="146" name="Chevron 145"/>
          <p:cNvSpPr/>
          <p:nvPr/>
        </p:nvSpPr>
        <p:spPr>
          <a:xfrm>
            <a:off x="5106924" y="2331720"/>
            <a:ext cx="1975104" cy="548640"/>
          </a:xfrm>
          <a:prstGeom prst="chevron">
            <a:avLst/>
          </a:prstGeom>
          <a:solidFill>
            <a:srgbClr val="232E52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36576"/>
          <a:lstStyle/>
          <a:p>
            <a:pPr algn="ctr"/>
            <a:r>
              <a:rPr sz="1200">
                <a:solidFill>
                  <a:srgbClr val="FBE695"/>
                </a:solidFill>
                <a:latin typeface="Poppins Light"/>
              </a:rPr>
              <a:t>VERIFY</a:t>
            </a:r>
          </a:p>
        </p:txBody>
      </p:sp>
      <p:sp>
        <p:nvSpPr>
          <p:cNvPr id="147" name="Chevron 146"/>
          <p:cNvSpPr/>
          <p:nvPr/>
        </p:nvSpPr>
        <p:spPr>
          <a:xfrm>
            <a:off x="7237476" y="2331720"/>
            <a:ext cx="1975104" cy="548640"/>
          </a:xfrm>
          <a:prstGeom prst="chevron">
            <a:avLst/>
          </a:prstGeom>
          <a:solidFill>
            <a:srgbClr val="232E52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36576"/>
          <a:lstStyle/>
          <a:p>
            <a:pPr algn="ctr"/>
            <a:r>
              <a:rPr sz="1200">
                <a:solidFill>
                  <a:srgbClr val="FBE695"/>
                </a:solidFill>
                <a:latin typeface="Poppins Light"/>
              </a:rPr>
              <a:t>PACKAGE</a:t>
            </a:r>
          </a:p>
        </p:txBody>
      </p:sp>
      <p:sp>
        <p:nvSpPr>
          <p:cNvPr id="148" name="Chevron 147"/>
          <p:cNvSpPr/>
          <p:nvPr/>
        </p:nvSpPr>
        <p:spPr>
          <a:xfrm>
            <a:off x="9368028" y="2331720"/>
            <a:ext cx="1975104" cy="548640"/>
          </a:xfrm>
          <a:prstGeom prst="chevron">
            <a:avLst/>
          </a:prstGeom>
          <a:solidFill>
            <a:srgbClr val="232E52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36576"/>
          <a:lstStyle/>
          <a:p>
            <a:pPr algn="ctr"/>
            <a:r>
              <a:rPr sz="1200">
                <a:solidFill>
                  <a:srgbClr val="FBE695"/>
                </a:solidFill>
                <a:latin typeface="Poppins Light"/>
              </a:rPr>
              <a:t>REPORT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566928" y="3200400"/>
            <a:ext cx="5349240" cy="2788920"/>
          </a:xfrm>
          <a:prstGeom prst="roundRect">
            <a:avLst>
              <a:gd name="adj" fmla="val 8000"/>
            </a:avLst>
          </a:prstGeom>
          <a:solidFill>
            <a:srgbClr val="1B2340"/>
          </a:solidFill>
          <a:ln w="15240">
            <a:solidFill>
              <a:srgbClr val="D4AF37">
                <a:alpha val="60000"/>
              </a:srgbClr>
            </a:solidFill>
          </a:ln>
          <a:effectLst/>
          <a:effectLst>
            <a:outerShdw blurRad="82296" dist="41148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841248" y="338328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FBE695"/>
                </a:solidFill>
                <a:latin typeface="Poppins Light"/>
              </a:rPr>
              <a:t>ON THE CALL · BEFORE THE PIN</a:t>
            </a:r>
          </a:p>
        </p:txBody>
      </p:sp>
      <p:sp>
        <p:nvSpPr>
          <p:cNvPr id="151" name="Oval 150"/>
          <p:cNvSpPr/>
          <p:nvPr/>
        </p:nvSpPr>
        <p:spPr>
          <a:xfrm>
            <a:off x="886968" y="3840480"/>
            <a:ext cx="274320" cy="27432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B2340"/>
                </a:solidFill>
                <a:latin typeface="Poppins"/>
              </a:rPr>
              <a:t>1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325880" y="3858768"/>
            <a:ext cx="4434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F2EEFA"/>
                </a:solidFill>
                <a:latin typeface="Poppins Light"/>
              </a:rPr>
              <a:t>AI flags scam talk + pressure · in Hindi</a:t>
            </a:r>
          </a:p>
        </p:txBody>
      </p:sp>
      <p:sp>
        <p:nvSpPr>
          <p:cNvPr id="153" name="Oval 152"/>
          <p:cNvSpPr/>
          <p:nvPr/>
        </p:nvSpPr>
        <p:spPr>
          <a:xfrm>
            <a:off x="886968" y="4498848"/>
            <a:ext cx="274320" cy="27432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B2340"/>
                </a:solidFill>
                <a:latin typeface="Poppins"/>
              </a:rPr>
              <a:t>2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325880" y="4517136"/>
            <a:ext cx="4434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F2EEFA"/>
                </a:solidFill>
                <a:latin typeface="Poppins Light"/>
              </a:rPr>
              <a:t>PAUSE screen fires · call held, elder warned</a:t>
            </a:r>
          </a:p>
        </p:txBody>
      </p:sp>
      <p:sp>
        <p:nvSpPr>
          <p:cNvPr id="155" name="Oval 154"/>
          <p:cNvSpPr/>
          <p:nvPr/>
        </p:nvSpPr>
        <p:spPr>
          <a:xfrm>
            <a:off x="886968" y="5157216"/>
            <a:ext cx="274320" cy="27432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B2340"/>
                </a:solidFill>
                <a:latin typeface="Poppins"/>
              </a:rPr>
              <a:t>3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325880" y="5175504"/>
            <a:ext cx="4434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F2EEFA"/>
                </a:solidFill>
                <a:latin typeface="Poppins Light"/>
              </a:rPr>
              <a:t>Family confirms, challenges, or kills the payment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6172200" y="3200400"/>
            <a:ext cx="5449824" cy="2788920"/>
          </a:xfrm>
          <a:prstGeom prst="roundRect">
            <a:avLst>
              <a:gd name="adj" fmla="val 8000"/>
            </a:avLst>
          </a:prstGeom>
          <a:solidFill>
            <a:srgbClr val="1B2340"/>
          </a:solidFill>
          <a:ln w="15240">
            <a:solidFill>
              <a:srgbClr val="D4AF37">
                <a:alpha val="60000"/>
              </a:srgbClr>
            </a:solidFill>
          </a:ln>
          <a:effectLst/>
          <a:effectLst>
            <a:outerShdw blurRad="82296" dist="41148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6446520" y="338328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FBE695"/>
                </a:solidFill>
                <a:latin typeface="Poppins Light"/>
              </a:rPr>
              <a:t>AFTER THE CALL · EVIDENCE</a:t>
            </a:r>
          </a:p>
        </p:txBody>
      </p:sp>
      <p:sp>
        <p:nvSpPr>
          <p:cNvPr id="159" name="Oval 158"/>
          <p:cNvSpPr/>
          <p:nvPr/>
        </p:nvSpPr>
        <p:spPr>
          <a:xfrm>
            <a:off x="6492240" y="3840480"/>
            <a:ext cx="274320" cy="27432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B2340"/>
                </a:solidFill>
                <a:latin typeface="Poppins"/>
              </a:rPr>
              <a:t>1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6931152" y="3858768"/>
            <a:ext cx="4526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F2EEFA"/>
                </a:solidFill>
                <a:latin typeface="Poppins Light"/>
              </a:rPr>
              <a:t>One-tap report to 1930 / Chakshu</a:t>
            </a:r>
          </a:p>
        </p:txBody>
      </p:sp>
      <p:sp>
        <p:nvSpPr>
          <p:cNvPr id="161" name="Oval 160"/>
          <p:cNvSpPr/>
          <p:nvPr/>
        </p:nvSpPr>
        <p:spPr>
          <a:xfrm>
            <a:off x="6492240" y="4370832"/>
            <a:ext cx="274320" cy="27432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B2340"/>
                </a:solidFill>
                <a:latin typeface="Poppins"/>
              </a:rPr>
              <a:t>2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931152" y="4389120"/>
            <a:ext cx="4526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F2EEFA"/>
                </a:solidFill>
                <a:latin typeface="Poppins Light"/>
              </a:rPr>
              <a:t>Tamper-evident evidence packet (sha256 chain)</a:t>
            </a:r>
          </a:p>
        </p:txBody>
      </p:sp>
      <p:sp>
        <p:nvSpPr>
          <p:cNvPr id="163" name="Oval 162"/>
          <p:cNvSpPr/>
          <p:nvPr/>
        </p:nvSpPr>
        <p:spPr>
          <a:xfrm>
            <a:off x="6492240" y="4901184"/>
            <a:ext cx="274320" cy="27432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B2340"/>
                </a:solidFill>
                <a:latin typeface="Poppins"/>
              </a:rPr>
              <a:t>3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931152" y="4919472"/>
            <a:ext cx="4526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F2EEFA"/>
                </a:solidFill>
                <a:latin typeface="Poppins Light"/>
              </a:rPr>
              <a:t>Timestamps, transcript spans, risk reasons</a:t>
            </a:r>
          </a:p>
        </p:txBody>
      </p:sp>
      <p:sp>
        <p:nvSpPr>
          <p:cNvPr id="165" name="Oval 164"/>
          <p:cNvSpPr/>
          <p:nvPr/>
        </p:nvSpPr>
        <p:spPr>
          <a:xfrm>
            <a:off x="6492240" y="5431536"/>
            <a:ext cx="274320" cy="27432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B2340"/>
                </a:solidFill>
                <a:latin typeface="Poppins"/>
              </a:rPr>
              <a:t>★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931152" y="5449823"/>
            <a:ext cx="4526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F2EEFA"/>
                </a:solidFill>
                <a:latin typeface="Poppins Light"/>
              </a:rPr>
              <a:t>Premium tier: cloud-first-answer (roadmap)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566928" y="6199632"/>
            <a:ext cx="11055096" cy="502920"/>
          </a:xfrm>
          <a:prstGeom prst="roundRect">
            <a:avLst>
              <a:gd name="adj" fmla="val 8000"/>
            </a:avLst>
          </a:prstGeom>
          <a:solidFill>
            <a:srgbClr val="232E52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777240" y="6291072"/>
            <a:ext cx="106070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0">
                <a:solidFill>
                  <a:srgbClr val="FBE695"/>
                </a:solidFill>
                <a:latin typeface="Poppins Light"/>
              </a:rPr>
              <a:t>Call-state + UPI-tripwire + evidence fusion · nobody guards this moment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7" name="Google Shape;84;p13_r1_r25_r1_r24_r1_r27" descr="image.png">
            <a:extLst>
              <a:ext uri="{FF2B5EF4-FFF2-40B4-BE49-F238E27FC236}">
                <a16:creationId xmlns:a16="http://schemas.microsoft.com/office/drawing/2014/main" id="{A7427FBB-6B82-28C2-C807-6A3DF49A1F1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57315" y="-88489"/>
            <a:ext cx="12457469" cy="7007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98;p14_r2_r26_r2_r25_r2_r28" descr="image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10;p14_r16_r32_r15_r30_r15_r33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11;p14_r17_r33_r16_r31_r16_r34"/>
          <p:cNvSpPr txBox="1"/>
          <p:nvPr/>
        </p:nvSpPr>
        <p:spPr>
          <a:xfrm>
            <a:off x="11706225" y="6467475"/>
            <a:ext cx="2000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04</a:t>
            </a:r>
          </a:p>
        </p:txBody>
      </p:sp>
      <p:pic>
        <p:nvPicPr>
          <p:cNvPr id="32" name="Picture 6_r18_r34_r17_r32_r17_r35">
            <a:extLst>
              <a:ext uri="{FF2B5EF4-FFF2-40B4-BE49-F238E27FC236}">
                <a16:creationId xmlns:a16="http://schemas.microsoft.com/office/drawing/2014/main" id="{81D6A019-74ED-9001-54F2-BCA9F7EF5C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1386" y="134593"/>
            <a:ext cx="2259114" cy="1169718"/>
          </a:xfrm>
          <a:prstGeom prst="rect">
            <a:avLst/>
          </a:prstGeom>
        </p:spPr>
      </p:pic>
      <p:sp>
        <p:nvSpPr>
          <p:cNvPr id="140" name="Rectangle 139"/>
          <p:cNvSpPr/>
          <p:nvPr/>
        </p:nvSpPr>
        <p:spPr>
          <a:xfrm>
            <a:off x="-274320" y="-274320"/>
            <a:ext cx="12710160" cy="7406640"/>
          </a:xfrm>
          <a:prstGeom prst="rect">
            <a:avLst/>
          </a:prstGeom>
          <a:solidFill>
            <a:srgbClr val="141A2E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658368" y="6071616"/>
            <a:ext cx="237744" cy="237744"/>
          </a:xfrm>
          <a:prstGeom prst="ellipse">
            <a:avLst/>
          </a:prstGeom>
          <a:solidFill>
            <a:srgbClr val="23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BE695"/>
                </a:solidFill>
                <a:latin typeface="Poppins"/>
              </a:rPr>
              <a:t>×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66928" y="1298448"/>
            <a:ext cx="1105509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BE695"/>
                </a:solidFill>
                <a:latin typeface="Playfair Display"/>
              </a:rPr>
              <a:t>THE MARKET · AND THE GRAVEYARD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F2EEFA"/>
                </a:solidFill>
                <a:latin typeface="Poppins Light"/>
              </a:rPr>
              <a:t>₹22,846 cr lost in 2024 alone · 2.27M complaints · every incumbent misses the moment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566928" y="2286000"/>
            <a:ext cx="2487168" cy="1078992"/>
          </a:xfrm>
          <a:prstGeom prst="roundRect">
            <a:avLst>
              <a:gd name="adj" fmla="val 8000"/>
            </a:avLst>
          </a:prstGeom>
          <a:solidFill>
            <a:srgbClr val="1B2340"/>
          </a:solidFill>
          <a:ln w="15240">
            <a:solidFill>
              <a:srgbClr val="D4AF37">
                <a:alpha val="60000"/>
              </a:srgbClr>
            </a:solidFill>
          </a:ln>
          <a:effectLst/>
          <a:effectLst>
            <a:outerShdw blurRad="82296" dist="41148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768096" y="2395728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BE695"/>
                </a:solidFill>
                <a:latin typeface="Playfair Display"/>
              </a:rPr>
              <a:t>2,268,346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768096" y="2798064"/>
            <a:ext cx="21945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F2EEFA"/>
                </a:solidFill>
                <a:latin typeface="Poppins Light"/>
              </a:rPr>
              <a:t>cyber-fraud complaints 2024 · 5× in 3 years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3200400" y="2286000"/>
            <a:ext cx="2487168" cy="1078992"/>
          </a:xfrm>
          <a:prstGeom prst="roundRect">
            <a:avLst>
              <a:gd name="adj" fmla="val 8000"/>
            </a:avLst>
          </a:prstGeom>
          <a:solidFill>
            <a:srgbClr val="1B2340"/>
          </a:solidFill>
          <a:ln w="15240">
            <a:solidFill>
              <a:srgbClr val="D4AF37">
                <a:alpha val="60000"/>
              </a:srgbClr>
            </a:solidFill>
          </a:ln>
          <a:effectLst/>
          <a:effectLst>
            <a:outerShdw blurRad="82296" dist="41148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3401568" y="2395728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BE695"/>
                </a:solidFill>
                <a:latin typeface="Playfair Display"/>
              </a:rPr>
              <a:t>₹22,845.7 cr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3401568" y="2798064"/>
            <a:ext cx="21945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F2EEFA"/>
                </a:solidFill>
                <a:latin typeface="Poppins Light"/>
              </a:rPr>
              <a:t>reported losses 2024 · 10× in 3 years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566928" y="3493008"/>
            <a:ext cx="2487168" cy="1078992"/>
          </a:xfrm>
          <a:prstGeom prst="roundRect">
            <a:avLst>
              <a:gd name="adj" fmla="val 8000"/>
            </a:avLst>
          </a:prstGeom>
          <a:solidFill>
            <a:srgbClr val="1B2340"/>
          </a:solidFill>
          <a:ln w="15240">
            <a:solidFill>
              <a:srgbClr val="D4AF37">
                <a:alpha val="60000"/>
              </a:srgbClr>
            </a:solidFill>
          </a:ln>
          <a:effectLst/>
          <a:effectLst>
            <a:outerShdw blurRad="82296" dist="41148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768096" y="3602736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BE695"/>
                </a:solidFill>
                <a:latin typeface="Playfair Display"/>
              </a:rPr>
              <a:t>137.9 M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768096" y="4005072"/>
            <a:ext cx="21945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F2EEFA"/>
                </a:solidFill>
                <a:latin typeface="Poppins Light"/>
              </a:rPr>
              <a:t>elders 60+ · smartphone access ≠ elder capability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3200400" y="3493008"/>
            <a:ext cx="2487168" cy="1078992"/>
          </a:xfrm>
          <a:prstGeom prst="roundRect">
            <a:avLst>
              <a:gd name="adj" fmla="val 8000"/>
            </a:avLst>
          </a:prstGeom>
          <a:solidFill>
            <a:srgbClr val="1B2340"/>
          </a:solidFill>
          <a:ln w="15240">
            <a:solidFill>
              <a:srgbClr val="D4AF37">
                <a:alpha val="60000"/>
              </a:srgbClr>
            </a:solidFill>
          </a:ln>
          <a:effectLst/>
          <a:effectLst>
            <a:outerShdw blurRad="82296" dist="41148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3401568" y="3602736"/>
            <a:ext cx="2103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BE695"/>
                </a:solidFill>
                <a:latin typeface="Playfair Display"/>
              </a:rPr>
              <a:t>47%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3401568" y="4005072"/>
            <a:ext cx="219456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F2EEFA"/>
                </a:solidFill>
                <a:latin typeface="Poppins Light"/>
              </a:rPr>
              <a:t>Indians hit by AI voice-clone scams · 83% lost money (McAfee)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5943600" y="2286000"/>
            <a:ext cx="5678424" cy="4114800"/>
          </a:xfrm>
          <a:prstGeom prst="roundRect">
            <a:avLst>
              <a:gd name="adj" fmla="val 8000"/>
            </a:avLst>
          </a:prstGeom>
          <a:solidFill>
            <a:srgbClr val="1B2340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6217920" y="245059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FBE695"/>
                </a:solidFill>
                <a:latin typeface="Poppins Light"/>
              </a:rPr>
              <a:t>WHO'S IN THE LANE</a:t>
            </a:r>
          </a:p>
        </p:txBody>
      </p:sp>
      <p:sp>
        <p:nvSpPr>
          <p:cNvPr id="156" name="Oval 155"/>
          <p:cNvSpPr/>
          <p:nvPr/>
        </p:nvSpPr>
        <p:spPr>
          <a:xfrm>
            <a:off x="6217920" y="2871216"/>
            <a:ext cx="219456" cy="219456"/>
          </a:xfrm>
          <a:prstGeom prst="ellipse">
            <a:avLst/>
          </a:prstGeom>
          <a:solidFill>
            <a:srgbClr val="23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BE695"/>
                </a:solidFill>
                <a:latin typeface="Poppins"/>
              </a:rPr>
              <a:t>×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547104" y="2852928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Poppins Light"/>
              </a:rPr>
              <a:t>Truecaller · 450M MAU (Apr 2025)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F2EEFA"/>
                </a:solidFill>
                <a:latin typeface="Poppins Light"/>
              </a:rPr>
              <a:t>caller ID + post-call recording · no live fusion</a:t>
            </a:r>
          </a:p>
        </p:txBody>
      </p:sp>
      <p:sp>
        <p:nvSpPr>
          <p:cNvPr id="158" name="Oval 157"/>
          <p:cNvSpPr/>
          <p:nvPr/>
        </p:nvSpPr>
        <p:spPr>
          <a:xfrm>
            <a:off x="6217920" y="3474720"/>
            <a:ext cx="219456" cy="219456"/>
          </a:xfrm>
          <a:prstGeom prst="ellipse">
            <a:avLst/>
          </a:prstGeom>
          <a:solidFill>
            <a:srgbClr val="23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BE695"/>
                </a:solidFill>
                <a:latin typeface="Poppins"/>
              </a:rPr>
              <a:t>×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6547104" y="3456432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Poppins Light"/>
              </a:rPr>
              <a:t>Pixel / Galaxy Scam Detection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F2EEFA"/>
                </a:solidFill>
                <a:latin typeface="Poppins Light"/>
              </a:rPr>
              <a:t>English-first, device-locked, no evidence</a:t>
            </a:r>
          </a:p>
        </p:txBody>
      </p:sp>
      <p:sp>
        <p:nvSpPr>
          <p:cNvPr id="160" name="Oval 159"/>
          <p:cNvSpPr/>
          <p:nvPr/>
        </p:nvSpPr>
        <p:spPr>
          <a:xfrm>
            <a:off x="6217920" y="4078224"/>
            <a:ext cx="219456" cy="219456"/>
          </a:xfrm>
          <a:prstGeom prst="ellipse">
            <a:avLst/>
          </a:prstGeom>
          <a:solidFill>
            <a:srgbClr val="23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BE695"/>
                </a:solidFill>
                <a:latin typeface="Poppins"/>
              </a:rPr>
              <a:t>×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6547104" y="4059936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Poppins Light"/>
              </a:rPr>
              <a:t>Hiya / Pindrop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F2EEFA"/>
                </a:solidFill>
                <a:latin typeface="Poppins Light"/>
              </a:rPr>
              <a:t>US-only consumer app · no India product</a:t>
            </a:r>
          </a:p>
        </p:txBody>
      </p:sp>
      <p:sp>
        <p:nvSpPr>
          <p:cNvPr id="162" name="Oval 161"/>
          <p:cNvSpPr/>
          <p:nvPr/>
        </p:nvSpPr>
        <p:spPr>
          <a:xfrm>
            <a:off x="6217920" y="4681728"/>
            <a:ext cx="219456" cy="219456"/>
          </a:xfrm>
          <a:prstGeom prst="ellipse">
            <a:avLst/>
          </a:prstGeom>
          <a:solidFill>
            <a:srgbClr val="23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BE695"/>
                </a:solidFill>
                <a:latin typeface="Poppins"/>
              </a:rPr>
              <a:t>×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6547104" y="4663440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Poppins Light"/>
              </a:rPr>
              <a:t>SeniorShield.ai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F2EEFA"/>
                </a:solidFill>
                <a:latin typeface="Poppins Light"/>
              </a:rPr>
              <a:t>user-invoked alerts + education · no fusion</a:t>
            </a:r>
          </a:p>
        </p:txBody>
      </p:sp>
      <p:sp>
        <p:nvSpPr>
          <p:cNvPr id="164" name="Oval 163"/>
          <p:cNvSpPr/>
          <p:nvPr/>
        </p:nvSpPr>
        <p:spPr>
          <a:xfrm>
            <a:off x="6217920" y="5285232"/>
            <a:ext cx="219456" cy="219456"/>
          </a:xfrm>
          <a:prstGeom prst="ellipse">
            <a:avLst/>
          </a:prstGeom>
          <a:solidFill>
            <a:srgbClr val="23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BE695"/>
                </a:solidFill>
                <a:latin typeface="Poppins"/>
              </a:rPr>
              <a:t>×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547104" y="5266944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Poppins Light"/>
              </a:rPr>
              <a:t>PhonePe Protect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F2EEFA"/>
                </a:solidFill>
                <a:latin typeface="Poppins Light"/>
              </a:rPr>
              <a:t>payment-time FRI checks · no call context</a:t>
            </a:r>
          </a:p>
        </p:txBody>
      </p:sp>
      <p:sp>
        <p:nvSpPr>
          <p:cNvPr id="166" name="Oval 165"/>
          <p:cNvSpPr/>
          <p:nvPr/>
        </p:nvSpPr>
        <p:spPr>
          <a:xfrm>
            <a:off x="6217920" y="5888736"/>
            <a:ext cx="219456" cy="219456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1B2340"/>
                </a:solidFill>
                <a:latin typeface="Poppins"/>
              </a:rPr>
              <a:t>★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547104" y="5870448"/>
            <a:ext cx="49377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BE695"/>
                </a:solidFill>
                <a:latin typeface="Poppins Light"/>
              </a:rPr>
              <a:t>KAVACH · AASIST-family; adapted: 4.18% EER on NASK real-fraud (WACV 2026)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F2EEFA"/>
                </a:solidFill>
                <a:latin typeface="Poppins Light"/>
              </a:rPr>
              <a:t>no public Hindi ASVspoof-style benchmark (MLAAD: Hindi inside a 23-language TTS set)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217920" y="616305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00" b="1">
                <a:solidFill>
                  <a:srgbClr val="FBE695"/>
                </a:solidFill>
                <a:latin typeface="Poppins Light"/>
              </a:rPr>
              <a:t>Attacker tooling: voice clones from ~3s of audio (McAfee) · RVC / SoVITS real-time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566928" y="4700016"/>
            <a:ext cx="5230368" cy="1627632"/>
          </a:xfrm>
          <a:prstGeom prst="roundRect">
            <a:avLst>
              <a:gd name="adj" fmla="val 8000"/>
            </a:avLst>
          </a:prstGeom>
          <a:solidFill>
            <a:srgbClr val="1B2340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841248" y="4828032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FBE695"/>
                </a:solidFill>
                <a:latin typeface="Poppins Light"/>
              </a:rPr>
              <a:t>THE ELDER-FINTECH GRAVEYARD</a:t>
            </a:r>
          </a:p>
        </p:txBody>
      </p:sp>
      <p:sp>
        <p:nvSpPr>
          <p:cNvPr id="171" name="Oval 170"/>
          <p:cNvSpPr/>
          <p:nvPr/>
        </p:nvSpPr>
        <p:spPr>
          <a:xfrm>
            <a:off x="841248" y="5138927"/>
            <a:ext cx="219456" cy="219456"/>
          </a:xfrm>
          <a:prstGeom prst="ellipse">
            <a:avLst/>
          </a:prstGeom>
          <a:solidFill>
            <a:srgbClr val="23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BE695"/>
                </a:solidFill>
                <a:latin typeface="Poppins"/>
              </a:rPr>
              <a:t>✕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170432" y="512064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F2EEFA"/>
                </a:solidFill>
                <a:latin typeface="Poppins Light"/>
              </a:rPr>
              <a:t>Charlie · $23M raised, DEAD (Jan 2026)</a:t>
            </a:r>
          </a:p>
        </p:txBody>
      </p:sp>
      <p:sp>
        <p:nvSpPr>
          <p:cNvPr id="173" name="Oval 172"/>
          <p:cNvSpPr/>
          <p:nvPr/>
        </p:nvSpPr>
        <p:spPr>
          <a:xfrm>
            <a:off x="841248" y="5522975"/>
            <a:ext cx="219456" cy="219456"/>
          </a:xfrm>
          <a:prstGeom prst="ellipse">
            <a:avLst/>
          </a:prstGeom>
          <a:solidFill>
            <a:srgbClr val="23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BE695"/>
                </a:solidFill>
                <a:latin typeface="Poppins"/>
              </a:rPr>
              <a:t>✕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170432" y="5504688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F2EEFA"/>
                </a:solidFill>
                <a:latin typeface="Poppins Light"/>
              </a:rPr>
              <a:t>Kalgera · pivoted consumer → B2B</a:t>
            </a:r>
          </a:p>
        </p:txBody>
      </p:sp>
      <p:sp>
        <p:nvSpPr>
          <p:cNvPr id="175" name="Oval 174"/>
          <p:cNvSpPr/>
          <p:nvPr/>
        </p:nvSpPr>
        <p:spPr>
          <a:xfrm>
            <a:off x="841248" y="5907023"/>
            <a:ext cx="219456" cy="219456"/>
          </a:xfrm>
          <a:prstGeom prst="ellipse">
            <a:avLst/>
          </a:prstGeom>
          <a:solidFill>
            <a:srgbClr val="23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FBE695"/>
                </a:solidFill>
                <a:latin typeface="Poppins"/>
              </a:rPr>
              <a:t>✕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170432" y="5888736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F2EEFA"/>
                </a:solidFill>
                <a:latin typeface="Poppins Light"/>
              </a:rPr>
              <a:t>True Link · SURVIVED 250K+ families: control in the payment path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566928" y="6400800"/>
            <a:ext cx="11055096" cy="384048"/>
          </a:xfrm>
          <a:prstGeom prst="roundRect">
            <a:avLst>
              <a:gd name="adj" fmla="val 8000"/>
            </a:avLst>
          </a:prstGeom>
          <a:solidFill>
            <a:srgbClr val="232E52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777240" y="6446520"/>
            <a:ext cx="106070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0">
                <a:solidFill>
                  <a:srgbClr val="FBE695"/>
                </a:solidFill>
                <a:latin typeface="Poppins Light"/>
              </a:rPr>
              <a:t>Global proof: US $9.3B (60+, IC3 2024) · Arup $25.6M deepfake meeting · not India-only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EB18FF61-1857-DD5F-D4B4-32B1030BFE8C}"/>
              </a:ext>
            </a:extLst>
          </p:cNvPr>
          <p:cNvGrpSpPr/>
          <p:nvPr/>
        </p:nvGrpSpPr>
        <p:grpSpPr>
          <a:xfrm>
            <a:off x="-132734" y="-74663"/>
            <a:ext cx="12457469" cy="7007326"/>
            <a:chOff x="-157315" y="-88489"/>
            <a:chExt cx="12457469" cy="7007326"/>
          </a:xfrm>
        </p:grpSpPr>
        <p:pic>
          <p:nvPicPr>
            <p:cNvPr id="2" name="Google Shape;84;p13" descr="image.png">
              <a:extLst>
                <a:ext uri="{FF2B5EF4-FFF2-40B4-BE49-F238E27FC236}">
                  <a16:creationId xmlns:a16="http://schemas.microsoft.com/office/drawing/2014/main" id="{1AED31AE-ABCF-23A6-5C8B-83D0AC31EAEC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157315" y="-88489"/>
              <a:ext cx="12457469" cy="70073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" name="Google Shape;98;p14" descr="image.png">
              <a:extLst>
                <a:ext uri="{FF2B5EF4-FFF2-40B4-BE49-F238E27FC236}">
                  <a16:creationId xmlns:a16="http://schemas.microsoft.com/office/drawing/2014/main" id="{1F32D93C-7343-8AF4-F453-702DCD511F75}"/>
                </a:ext>
              </a:extLst>
            </p:cNvPr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4" name="Google Shape;124;p15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11706225" y="6467475"/>
            <a:ext cx="2000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05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4E2B5A-0D8D-0AB1-E15B-5102336B75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1386" y="134593"/>
            <a:ext cx="2259114" cy="1169718"/>
          </a:xfrm>
          <a:prstGeom prst="rect">
            <a:avLst/>
          </a:prstGeom>
        </p:spPr>
      </p:pic>
      <p:sp>
        <p:nvSpPr>
          <p:cNvPr id="153" name="Rectangle 152"/>
          <p:cNvSpPr/>
          <p:nvPr/>
        </p:nvSpPr>
        <p:spPr>
          <a:xfrm>
            <a:off x="-274320" y="-274320"/>
            <a:ext cx="12710160" cy="7406640"/>
          </a:xfrm>
          <a:prstGeom prst="rect">
            <a:avLst/>
          </a:prstGeom>
          <a:solidFill>
            <a:srgbClr val="141A2E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8778240" y="3657600"/>
            <a:ext cx="5486400" cy="3657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5000" b="1">
                <a:solidFill>
                  <a:srgbClr val="FBE695">
                    <a:alpha val="5000"/>
                  </a:srgbClr>
                </a:solidFill>
                <a:solidFill>
                  <a:srgbClr val="FBE695"/>
                </a:solidFill>
                <a:latin typeface="Playfair Display"/>
              </a:rPr>
              <a:t>L0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566928" y="1298448"/>
            <a:ext cx="1105509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BE695"/>
                </a:solidFill>
                <a:latin typeface="Playfair Display"/>
              </a:rPr>
              <a:t>WHERE THE CALL GOES · AND WHERE IT GETS HACKED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F2EEFA"/>
                </a:solidFill>
                <a:latin typeface="Poppins Light"/>
              </a:rPr>
              <a:t>Every hop is a trust boundary · nobody owns the phone moment but us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603504" y="2350008"/>
            <a:ext cx="2606040" cy="2788920"/>
          </a:xfrm>
          <a:prstGeom prst="roundRect">
            <a:avLst>
              <a:gd name="adj" fmla="val 6000"/>
            </a:avLst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ounded Rectangle 156"/>
          <p:cNvSpPr/>
          <p:nvPr/>
        </p:nvSpPr>
        <p:spPr>
          <a:xfrm>
            <a:off x="566928" y="2286000"/>
            <a:ext cx="2606040" cy="2788920"/>
          </a:xfrm>
          <a:prstGeom prst="roundRect">
            <a:avLst>
              <a:gd name="adj" fmla="val 6000"/>
            </a:avLst>
          </a:prstGeom>
          <a:solidFill>
            <a:srgbClr val="1B2340"/>
          </a:solidFill>
          <a:ln w="15240">
            <a:solidFill>
              <a:srgbClr val="D4AF37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ounded Rectangle 157"/>
          <p:cNvSpPr/>
          <p:nvPr/>
        </p:nvSpPr>
        <p:spPr>
          <a:xfrm>
            <a:off x="566928" y="2176272"/>
            <a:ext cx="2606040" cy="109728"/>
          </a:xfrm>
          <a:prstGeom prst="roundRect">
            <a:avLst>
              <a:gd name="adj" fmla="val 50000"/>
            </a:avLst>
          </a:prstGeom>
          <a:solidFill>
            <a:srgbClr val="232E52"/>
          </a:solidFill>
          <a:ln w="12700">
            <a:solidFill>
              <a:srgbClr val="D4AF37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13232" y="2395728"/>
            <a:ext cx="2313432" cy="2606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BE695"/>
                </a:solidFill>
                <a:latin typeface="Poppins Light"/>
              </a:rPr>
              <a:t>ATTACKER</a:t>
            </a:r>
          </a:p>
          <a:p>
            <a:pPr algn="l">
              <a:lnSpc>
                <a:spcPct val="108000"/>
              </a:lnSpc>
            </a:pPr>
            <a:r>
              <a:rPr sz="950" b="0">
                <a:solidFill>
                  <a:srgbClr val="FF8A80"/>
                </a:solidFill>
                <a:latin typeface="Poppins Light"/>
              </a:rPr>
              <a:t>⚡ CLI spoofing · number faked</a:t>
            </a:r>
          </a:p>
          <a:p>
            <a:pPr algn="l">
              <a:lnSpc>
                <a:spcPct val="108000"/>
              </a:lnSpc>
            </a:pPr>
            <a:r>
              <a:rPr sz="950" b="0">
                <a:solidFill>
                  <a:srgbClr val="FF8A80"/>
                </a:solidFill>
                <a:latin typeface="Poppins Light"/>
              </a:rPr>
              <a:t>⚡ AI-cloned voice, minutes, pennies</a:t>
            </a:r>
          </a:p>
          <a:p>
            <a:pPr algn="l">
              <a:lnSpc>
                <a:spcPct val="108000"/>
              </a:lnSpc>
            </a:pPr>
            <a:r>
              <a:rPr sz="950" b="0">
                <a:solidFill>
                  <a:srgbClr val="FF8A80"/>
                </a:solidFill>
                <a:latin typeface="Poppins Light"/>
              </a:rPr>
              <a:t>⚡ SIM box / grey routes</a:t>
            </a:r>
          </a:p>
          <a:p>
            <a:pPr algn="l">
              <a:lnSpc>
                <a:spcPct val="108000"/>
              </a:lnSpc>
            </a:pPr>
            <a:r>
              <a:rPr sz="950" b="0">
                <a:solidFill>
                  <a:srgbClr val="FF8A80"/>
                </a:solidFill>
                <a:latin typeface="Poppins Light"/>
              </a:rPr>
              <a:t>⚡ OTP social engineering</a:t>
            </a:r>
          </a:p>
          <a:p>
            <a:pPr algn="l">
              <a:lnSpc>
                <a:spcPct val="105000"/>
              </a:lnSpc>
            </a:pPr>
            <a:r>
              <a:rPr sz="850" b="1">
                <a:solidFill>
                  <a:srgbClr val="FBE695"/>
                </a:solidFill>
                <a:latin typeface="Poppins Light"/>
              </a:rPr>
              <a:t>cost of attack ≈ ₹0</a:t>
            </a:r>
          </a:p>
        </p:txBody>
      </p:sp>
      <p:sp>
        <p:nvSpPr>
          <p:cNvPr id="160" name="Chevron 159"/>
          <p:cNvSpPr/>
          <p:nvPr/>
        </p:nvSpPr>
        <p:spPr>
          <a:xfrm>
            <a:off x="3186684" y="3525012"/>
            <a:ext cx="182880" cy="310896"/>
          </a:xfrm>
          <a:prstGeom prst="chevron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ounded Rectangle 160"/>
          <p:cNvSpPr/>
          <p:nvPr/>
        </p:nvSpPr>
        <p:spPr>
          <a:xfrm>
            <a:off x="3419856" y="2350008"/>
            <a:ext cx="2606040" cy="2788920"/>
          </a:xfrm>
          <a:prstGeom prst="roundRect">
            <a:avLst>
              <a:gd name="adj" fmla="val 6000"/>
            </a:avLst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ounded Rectangle 161"/>
          <p:cNvSpPr/>
          <p:nvPr/>
        </p:nvSpPr>
        <p:spPr>
          <a:xfrm>
            <a:off x="3383280" y="2286000"/>
            <a:ext cx="2606040" cy="2788920"/>
          </a:xfrm>
          <a:prstGeom prst="roundRect">
            <a:avLst>
              <a:gd name="adj" fmla="val 6000"/>
            </a:avLst>
          </a:prstGeom>
          <a:solidFill>
            <a:srgbClr val="1B2340"/>
          </a:solidFill>
          <a:ln w="15240">
            <a:solidFill>
              <a:srgbClr val="D4AF37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ounded Rectangle 162"/>
          <p:cNvSpPr/>
          <p:nvPr/>
        </p:nvSpPr>
        <p:spPr>
          <a:xfrm>
            <a:off x="3383280" y="2176272"/>
            <a:ext cx="2606040" cy="109728"/>
          </a:xfrm>
          <a:prstGeom prst="roundRect">
            <a:avLst>
              <a:gd name="adj" fmla="val 50000"/>
            </a:avLst>
          </a:prstGeom>
          <a:solidFill>
            <a:srgbClr val="232E52"/>
          </a:solidFill>
          <a:ln w="12700">
            <a:solidFill>
              <a:srgbClr val="D4AF37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3529584" y="2395728"/>
            <a:ext cx="2313432" cy="2606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BE695"/>
                </a:solidFill>
                <a:latin typeface="Poppins Light"/>
              </a:rPr>
              <a:t>CARRIER NETWORK</a:t>
            </a:r>
          </a:p>
          <a:p>
            <a:pPr algn="l">
              <a:lnSpc>
                <a:spcPct val="108000"/>
              </a:lnSpc>
            </a:pPr>
            <a:r>
              <a:rPr sz="950" b="0">
                <a:solidFill>
                  <a:srgbClr val="FF8A80"/>
                </a:solidFill>
                <a:latin typeface="Poppins Light"/>
              </a:rPr>
              <a:t>⚡ SS7 / Diameter abuse</a:t>
            </a:r>
          </a:p>
          <a:p>
            <a:pPr algn="l">
              <a:lnSpc>
                <a:spcPct val="108000"/>
              </a:lnSpc>
            </a:pPr>
            <a:r>
              <a:rPr sz="950" b="0">
                <a:solidFill>
                  <a:srgbClr val="FF8A80"/>
                </a:solidFill>
                <a:latin typeface="Poppins Light"/>
              </a:rPr>
              <a:t>⚡ SIP header forgery</a:t>
            </a:r>
          </a:p>
          <a:p>
            <a:pPr algn="l">
              <a:lnSpc>
                <a:spcPct val="108000"/>
              </a:lnSpc>
            </a:pPr>
            <a:r>
              <a:rPr sz="950" b="0">
                <a:solidFill>
                  <a:srgbClr val="FF8A80"/>
                </a:solidFill>
                <a:latin typeface="Poppins Light"/>
              </a:rPr>
              <a:t>⚡ call-forwarding reroute</a:t>
            </a:r>
          </a:p>
          <a:p>
            <a:pPr algn="l">
              <a:lnSpc>
                <a:spcPct val="108000"/>
              </a:lnSpc>
            </a:pPr>
            <a:r>
              <a:rPr sz="950" b="0">
                <a:solidFill>
                  <a:srgbClr val="F2EEFA"/>
                </a:solidFill>
                <a:latin typeface="Poppins Light"/>
              </a:rPr>
              <a:t>DoT blocked 1.35 cr spoofed calls in the first 24h after Oct 2024 launch</a:t>
            </a:r>
          </a:p>
          <a:p>
            <a:pPr algn="l">
              <a:lnSpc>
                <a:spcPct val="105000"/>
              </a:lnSpc>
            </a:pPr>
            <a:r>
              <a:rPr sz="850" b="1">
                <a:solidFill>
                  <a:srgbClr val="FBE695"/>
                </a:solidFill>
                <a:latin typeface="Poppins Light"/>
              </a:rPr>
              <a:t>IMS SIP · VoLTE · 5G VoNR</a:t>
            </a:r>
          </a:p>
        </p:txBody>
      </p:sp>
      <p:sp>
        <p:nvSpPr>
          <p:cNvPr id="165" name="Chevron 164"/>
          <p:cNvSpPr/>
          <p:nvPr/>
        </p:nvSpPr>
        <p:spPr>
          <a:xfrm>
            <a:off x="6003036" y="3525012"/>
            <a:ext cx="182880" cy="310896"/>
          </a:xfrm>
          <a:prstGeom prst="chevron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ounded Rectangle 165"/>
          <p:cNvSpPr/>
          <p:nvPr/>
        </p:nvSpPr>
        <p:spPr>
          <a:xfrm>
            <a:off x="6236208" y="2350008"/>
            <a:ext cx="2606040" cy="2788920"/>
          </a:xfrm>
          <a:prstGeom prst="roundRect">
            <a:avLst>
              <a:gd name="adj" fmla="val 6000"/>
            </a:avLst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ounded Rectangle 166"/>
          <p:cNvSpPr/>
          <p:nvPr/>
        </p:nvSpPr>
        <p:spPr>
          <a:xfrm>
            <a:off x="6199632" y="2286000"/>
            <a:ext cx="2606040" cy="2788920"/>
          </a:xfrm>
          <a:prstGeom prst="roundRect">
            <a:avLst>
              <a:gd name="adj" fmla="val 6000"/>
            </a:avLst>
          </a:prstGeom>
          <a:solidFill>
            <a:srgbClr val="1B2340"/>
          </a:solidFill>
          <a:ln w="15240">
            <a:solidFill>
              <a:srgbClr val="D4AF37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ounded Rectangle 167"/>
          <p:cNvSpPr/>
          <p:nvPr/>
        </p:nvSpPr>
        <p:spPr>
          <a:xfrm>
            <a:off x="6199632" y="2176272"/>
            <a:ext cx="2606040" cy="109728"/>
          </a:xfrm>
          <a:prstGeom prst="roundRect">
            <a:avLst>
              <a:gd name="adj" fmla="val 50000"/>
            </a:avLst>
          </a:prstGeom>
          <a:solidFill>
            <a:srgbClr val="232E52"/>
          </a:solidFill>
          <a:ln w="12700">
            <a:solidFill>
              <a:srgbClr val="D4AF37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345936" y="2395728"/>
            <a:ext cx="2313432" cy="2606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BE695"/>
                </a:solidFill>
                <a:latin typeface="Poppins Light"/>
              </a:rPr>
              <a:t>LAST MILE</a:t>
            </a:r>
          </a:p>
          <a:p>
            <a:pPr algn="l">
              <a:lnSpc>
                <a:spcPct val="108000"/>
              </a:lnSpc>
            </a:pPr>
            <a:r>
              <a:rPr sz="950" b="0">
                <a:solidFill>
                  <a:srgbClr val="FF8A80"/>
                </a:solidFill>
                <a:latin typeface="Poppins Light"/>
              </a:rPr>
              <a:t>⚡ false base station (IMSI catcher)</a:t>
            </a:r>
          </a:p>
          <a:p>
            <a:pPr algn="l">
              <a:lnSpc>
                <a:spcPct val="108000"/>
              </a:lnSpc>
            </a:pPr>
            <a:r>
              <a:rPr sz="950" b="0">
                <a:solidFill>
                  <a:srgbClr val="FF8A80"/>
                </a:solidFill>
                <a:latin typeface="Poppins Light"/>
              </a:rPr>
              <a:t>⚡ 2G downgrade</a:t>
            </a:r>
          </a:p>
          <a:p>
            <a:pPr algn="l">
              <a:lnSpc>
                <a:spcPct val="108000"/>
              </a:lnSpc>
            </a:pPr>
            <a:r>
              <a:rPr sz="950" b="0">
                <a:solidFill>
                  <a:srgbClr val="FF8A80"/>
                </a:solidFill>
                <a:latin typeface="Poppins Light"/>
              </a:rPr>
              <a:t>⚡ caller ID = a CLAIM, not proof</a:t>
            </a:r>
          </a:p>
          <a:p>
            <a:pPr algn="l">
              <a:lnSpc>
                <a:spcPct val="108000"/>
              </a:lnSpc>
            </a:pPr>
            <a:r>
              <a:rPr sz="950" b="0">
                <a:solidFill>
                  <a:srgbClr val="F2EEFA"/>
                </a:solidFill>
                <a:latin typeface="Poppins Light"/>
              </a:rPr>
              <a:t>STIR/SHAKEN proves a provider, not a person</a:t>
            </a:r>
          </a:p>
          <a:p>
            <a:pPr algn="l">
              <a:lnSpc>
                <a:spcPct val="105000"/>
              </a:lnSpc>
            </a:pPr>
            <a:r>
              <a:rPr sz="850" b="1">
                <a:solidFill>
                  <a:srgbClr val="FBE695"/>
                </a:solidFill>
                <a:latin typeface="Poppins Light"/>
              </a:rPr>
              <a:t>identity ≠ fraud risk</a:t>
            </a:r>
          </a:p>
        </p:txBody>
      </p:sp>
      <p:sp>
        <p:nvSpPr>
          <p:cNvPr id="170" name="Chevron 169"/>
          <p:cNvSpPr/>
          <p:nvPr/>
        </p:nvSpPr>
        <p:spPr>
          <a:xfrm>
            <a:off x="8819388" y="3525012"/>
            <a:ext cx="182880" cy="310896"/>
          </a:xfrm>
          <a:prstGeom prst="chevron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ounded Rectangle 170"/>
          <p:cNvSpPr/>
          <p:nvPr/>
        </p:nvSpPr>
        <p:spPr>
          <a:xfrm>
            <a:off x="9052559" y="2350008"/>
            <a:ext cx="2606040" cy="2788920"/>
          </a:xfrm>
          <a:prstGeom prst="roundRect">
            <a:avLst>
              <a:gd name="adj" fmla="val 6000"/>
            </a:avLst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ounded Rectangle 171"/>
          <p:cNvSpPr/>
          <p:nvPr/>
        </p:nvSpPr>
        <p:spPr>
          <a:xfrm>
            <a:off x="9015984" y="2286000"/>
            <a:ext cx="2606040" cy="2788920"/>
          </a:xfrm>
          <a:prstGeom prst="roundRect">
            <a:avLst>
              <a:gd name="adj" fmla="val 6000"/>
            </a:avLst>
          </a:prstGeom>
          <a:solidFill>
            <a:srgbClr val="232E52"/>
          </a:solidFill>
          <a:ln w="15240">
            <a:solidFill>
              <a:srgbClr val="D4AF37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ounded Rectangle 172"/>
          <p:cNvSpPr/>
          <p:nvPr/>
        </p:nvSpPr>
        <p:spPr>
          <a:xfrm>
            <a:off x="9015984" y="2176272"/>
            <a:ext cx="2606040" cy="109728"/>
          </a:xfrm>
          <a:prstGeom prst="roundRect">
            <a:avLst>
              <a:gd name="adj" fmla="val 50000"/>
            </a:avLst>
          </a:prstGeom>
          <a:solidFill>
            <a:srgbClr val="2E3A63"/>
          </a:solidFill>
          <a:ln w="12700">
            <a:solidFill>
              <a:srgbClr val="D4AF37">
                <a:alpha val="7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9162288" y="2395728"/>
            <a:ext cx="2313432" cy="2606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BE695"/>
                </a:solidFill>
                <a:latin typeface="Poppins Light"/>
              </a:rPr>
              <a:t>PHONE · OUR ZONE</a:t>
            </a:r>
          </a:p>
          <a:p>
            <a:pPr algn="l">
              <a:lnSpc>
                <a:spcPct val="108000"/>
              </a:lnSpc>
            </a:pPr>
            <a:r>
              <a:rPr sz="950" b="0">
                <a:solidFill>
                  <a:srgbClr val="F2EEFA"/>
                </a:solidFill>
                <a:latin typeface="Poppins Light"/>
              </a:rPr>
              <a:t>L0 pre-ring screening, elder primed</a:t>
            </a:r>
          </a:p>
          <a:p>
            <a:pPr algn="l">
              <a:lnSpc>
                <a:spcPct val="108000"/>
              </a:lnSpc>
            </a:pPr>
            <a:r>
              <a:rPr sz="950" b="0">
                <a:solidFill>
                  <a:srgbClr val="F2EEFA"/>
                </a:solidFill>
                <a:latin typeface="Poppins Light"/>
              </a:rPr>
              <a:t>L1 2s voice + coercion verdict</a:t>
            </a:r>
          </a:p>
          <a:p>
            <a:pPr algn="l">
              <a:lnSpc>
                <a:spcPct val="108000"/>
              </a:lnSpc>
            </a:pPr>
            <a:r>
              <a:rPr sz="950" b="0">
                <a:solidFill>
                  <a:srgbClr val="F2EEFA"/>
                </a:solidFill>
                <a:latin typeface="Poppins Light"/>
              </a:rPr>
              <a:t>L2 payment tripwire before PIN</a:t>
            </a:r>
          </a:p>
          <a:p>
            <a:pPr algn="l">
              <a:lnSpc>
                <a:spcPct val="108000"/>
              </a:lnSpc>
            </a:pPr>
            <a:r>
              <a:rPr sz="950" b="0">
                <a:solidFill>
                  <a:srgbClr val="F2EEFA"/>
                </a:solidFill>
                <a:latin typeface="Poppins Light"/>
              </a:rPr>
              <a:t>L3 evidence capsule → 1930</a:t>
            </a:r>
          </a:p>
          <a:p>
            <a:pPr algn="l">
              <a:lnSpc>
                <a:spcPct val="105000"/>
              </a:lnSpc>
            </a:pPr>
            <a:r>
              <a:rPr sz="850" b="1">
                <a:solidFill>
                  <a:srgbClr val="FBE695"/>
                </a:solidFill>
                <a:latin typeface="Poppins Light"/>
              </a:rPr>
              <a:t>T1 cloud answer · T2 FRI hold · T3 OEM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566928" y="5230368"/>
            <a:ext cx="11055096" cy="658368"/>
          </a:xfrm>
          <a:prstGeom prst="roundRect">
            <a:avLst>
              <a:gd name="adj" fmla="val 8000"/>
            </a:avLst>
          </a:prstGeom>
          <a:solidFill>
            <a:srgbClr val="232E52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777240" y="530352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BE695"/>
                </a:solidFill>
                <a:latin typeface="Poppins Light"/>
              </a:rPr>
              <a:t>WHO ELSE COULD STOP IT HERE?  Truecaller · caller ID + post-call recording, no live fusion · Carriers · block numbers, not voices · Banks · act AFTER money moves</a:t>
            </a:r>
          </a:p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FFFFFF"/>
                </a:solidFill>
                <a:latin typeface="Poppins Light"/>
              </a:rPr>
              <a:t>NOBODY owns the seconds between 'scam detected' and 'payment made' · that gap is Kavach</a:t>
            </a:r>
          </a:p>
        </p:txBody>
      </p:sp>
      <p:sp>
        <p:nvSpPr>
          <p:cNvPr id="177" name="Chevron 176"/>
          <p:cNvSpPr/>
          <p:nvPr/>
        </p:nvSpPr>
        <p:spPr>
          <a:xfrm>
            <a:off x="845819" y="6053328"/>
            <a:ext cx="1975104" cy="402336"/>
          </a:xfrm>
          <a:prstGeom prst="chevron">
            <a:avLst/>
          </a:prstGeom>
          <a:solidFill>
            <a:srgbClr val="232E52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36576"/>
          <a:lstStyle/>
          <a:p>
            <a:pPr algn="ctr"/>
            <a:r>
              <a:rPr sz="1050">
                <a:solidFill>
                  <a:srgbClr val="FBE695"/>
                </a:solidFill>
                <a:latin typeface="Poppins Light"/>
              </a:rPr>
              <a:t>PRE-RING</a:t>
            </a:r>
          </a:p>
        </p:txBody>
      </p:sp>
      <p:sp>
        <p:nvSpPr>
          <p:cNvPr id="178" name="Chevron 177"/>
          <p:cNvSpPr/>
          <p:nvPr/>
        </p:nvSpPr>
        <p:spPr>
          <a:xfrm>
            <a:off x="2976372" y="6053328"/>
            <a:ext cx="1975104" cy="402336"/>
          </a:xfrm>
          <a:prstGeom prst="chevron">
            <a:avLst/>
          </a:prstGeom>
          <a:solidFill>
            <a:srgbClr val="232E52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36576"/>
          <a:lstStyle/>
          <a:p>
            <a:pPr algn="ctr"/>
            <a:r>
              <a:rPr sz="1050">
                <a:solidFill>
                  <a:srgbClr val="FBE695"/>
                </a:solidFill>
                <a:latin typeface="Poppins Light"/>
              </a:rPr>
              <a:t>FIRST SECONDS</a:t>
            </a:r>
          </a:p>
        </p:txBody>
      </p:sp>
      <p:sp>
        <p:nvSpPr>
          <p:cNvPr id="179" name="Chevron 178"/>
          <p:cNvSpPr/>
          <p:nvPr/>
        </p:nvSpPr>
        <p:spPr>
          <a:xfrm>
            <a:off x="5106924" y="6053328"/>
            <a:ext cx="1975104" cy="402336"/>
          </a:xfrm>
          <a:prstGeom prst="chevron">
            <a:avLst/>
          </a:prstGeom>
          <a:solidFill>
            <a:srgbClr val="232E52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36576"/>
          <a:lstStyle/>
          <a:p>
            <a:pPr algn="ctr"/>
            <a:r>
              <a:rPr sz="1050">
                <a:solidFill>
                  <a:srgbClr val="FBE695"/>
                </a:solidFill>
                <a:latin typeface="Poppins Light"/>
              </a:rPr>
              <a:t>DURING</a:t>
            </a:r>
          </a:p>
        </p:txBody>
      </p:sp>
      <p:sp>
        <p:nvSpPr>
          <p:cNvPr id="180" name="Chevron 179"/>
          <p:cNvSpPr/>
          <p:nvPr/>
        </p:nvSpPr>
        <p:spPr>
          <a:xfrm>
            <a:off x="7237476" y="6053328"/>
            <a:ext cx="1975104" cy="402336"/>
          </a:xfrm>
          <a:prstGeom prst="chevron">
            <a:avLst/>
          </a:prstGeom>
          <a:solidFill>
            <a:srgbClr val="232E52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36576"/>
          <a:lstStyle/>
          <a:p>
            <a:pPr algn="ctr"/>
            <a:r>
              <a:rPr sz="1050">
                <a:solidFill>
                  <a:srgbClr val="FBE695"/>
                </a:solidFill>
                <a:latin typeface="Poppins Light"/>
              </a:rPr>
              <a:t>PAYMENT MOMENT</a:t>
            </a:r>
          </a:p>
        </p:txBody>
      </p:sp>
      <p:sp>
        <p:nvSpPr>
          <p:cNvPr id="181" name="Chevron 180"/>
          <p:cNvSpPr/>
          <p:nvPr/>
        </p:nvSpPr>
        <p:spPr>
          <a:xfrm>
            <a:off x="9368028" y="6053328"/>
            <a:ext cx="1975104" cy="402336"/>
          </a:xfrm>
          <a:prstGeom prst="chevron">
            <a:avLst/>
          </a:prstGeom>
          <a:solidFill>
            <a:srgbClr val="232E52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36576"/>
          <a:lstStyle/>
          <a:p>
            <a:pPr algn="ctr"/>
            <a:r>
              <a:rPr sz="1050">
                <a:solidFill>
                  <a:srgbClr val="FBE695"/>
                </a:solidFill>
                <a:latin typeface="Poppins Light"/>
              </a:rPr>
              <a:t>HANG-UP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566928" y="6510528"/>
            <a:ext cx="1105509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0">
                <a:solidFill>
                  <a:srgbClr val="F2EEFA"/>
                </a:solidFill>
                <a:latin typeface="Poppins Light"/>
              </a:rPr>
              <a:t>Our loop runs on every hop we can reach: pre-ring (L0) → first seconds (L1) → payment (L2) → hang-up (L3) · cloud tier (T1)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D9BBD4A-0CA1-32F3-26D6-3379A9124AC1}"/>
              </a:ext>
            </a:extLst>
          </p:cNvPr>
          <p:cNvGrpSpPr/>
          <p:nvPr/>
        </p:nvGrpSpPr>
        <p:grpSpPr>
          <a:xfrm>
            <a:off x="-132734" y="-74663"/>
            <a:ext cx="12457469" cy="7007326"/>
            <a:chOff x="-157315" y="-88489"/>
            <a:chExt cx="12457469" cy="7007326"/>
          </a:xfrm>
        </p:grpSpPr>
        <p:pic>
          <p:nvPicPr>
            <p:cNvPr id="2" name="Google Shape;84;p13" descr="image.png">
              <a:extLst>
                <a:ext uri="{FF2B5EF4-FFF2-40B4-BE49-F238E27FC236}">
                  <a16:creationId xmlns:a16="http://schemas.microsoft.com/office/drawing/2014/main" id="{E85BF679-52A2-A2B8-04BF-1A2CCF31193A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157315" y="-88489"/>
              <a:ext cx="12457469" cy="70073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" name="Google Shape;98;p14" descr="image.png">
              <a:extLst>
                <a:ext uri="{FF2B5EF4-FFF2-40B4-BE49-F238E27FC236}">
                  <a16:creationId xmlns:a16="http://schemas.microsoft.com/office/drawing/2014/main" id="{6A9C8AA2-5CCF-3436-C5FD-C0ADC42FFDE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4" name="Google Shape;144;p16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 txBox="1"/>
          <p:nvPr/>
        </p:nvSpPr>
        <p:spPr>
          <a:xfrm>
            <a:off x="11687175" y="6467475"/>
            <a:ext cx="2190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06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539AD2-9821-3F8D-A3D6-35A48800DBE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61386" y="134593"/>
            <a:ext cx="2259114" cy="1169718"/>
          </a:xfrm>
          <a:prstGeom prst="rect">
            <a:avLst/>
          </a:prstGeom>
        </p:spPr>
      </p:pic>
      <p:sp>
        <p:nvSpPr>
          <p:cNvPr id="177" name="Rectangle 176"/>
          <p:cNvSpPr/>
          <p:nvPr/>
        </p:nvSpPr>
        <p:spPr>
          <a:xfrm>
            <a:off x="-274320" y="-274320"/>
            <a:ext cx="12710160" cy="7406640"/>
          </a:xfrm>
          <a:prstGeom prst="rect">
            <a:avLst/>
          </a:prstGeom>
          <a:solidFill>
            <a:srgbClr val="141A2E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566928" y="1298448"/>
            <a:ext cx="1105509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BE695"/>
                </a:solidFill>
                <a:latin typeface="Playfair Display"/>
              </a:rPr>
              <a:t>TECHNICAL APPROACH · BUILT &amp; FEASIBLE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F2EEFA"/>
                </a:solidFill>
                <a:latin typeface="Poppins Light"/>
              </a:rPr>
              <a:t>Measured, not promised · and honest about the platform wall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566928" y="2212848"/>
            <a:ext cx="11055096" cy="1051560"/>
          </a:xfrm>
          <a:prstGeom prst="roundRect">
            <a:avLst>
              <a:gd name="adj" fmla="val 8000"/>
            </a:avLst>
          </a:prstGeom>
          <a:solidFill>
            <a:srgbClr val="1B2340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841248" y="23591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FBE695"/>
                </a:solidFill>
                <a:latin typeface="Poppins Light"/>
              </a:rPr>
              <a:t>THE STACK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841248" y="2724912"/>
            <a:ext cx="740664" cy="365760"/>
          </a:xfrm>
          <a:prstGeom prst="roundRect">
            <a:avLst>
              <a:gd name="adj" fmla="val 50000"/>
            </a:avLst>
          </a:prstGeom>
          <a:solidFill>
            <a:srgbClr val="232E52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100" b="0">
                <a:solidFill>
                  <a:srgbClr val="FBE695"/>
                </a:solidFill>
                <a:latin typeface="Poppins Light"/>
              </a:rPr>
              <a:t>Python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1728216" y="2724912"/>
            <a:ext cx="818388" cy="365760"/>
          </a:xfrm>
          <a:prstGeom prst="roundRect">
            <a:avLst>
              <a:gd name="adj" fmla="val 50000"/>
            </a:avLst>
          </a:prstGeom>
          <a:solidFill>
            <a:srgbClr val="232E52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100" b="0">
                <a:solidFill>
                  <a:srgbClr val="FBE695"/>
                </a:solidFill>
                <a:latin typeface="Poppins Light"/>
              </a:rPr>
              <a:t>PyTorch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2692908" y="2724912"/>
            <a:ext cx="740664" cy="365760"/>
          </a:xfrm>
          <a:prstGeom prst="roundRect">
            <a:avLst>
              <a:gd name="adj" fmla="val 50000"/>
            </a:avLst>
          </a:prstGeom>
          <a:solidFill>
            <a:srgbClr val="232E52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100" b="0">
                <a:solidFill>
                  <a:srgbClr val="FBE695"/>
                </a:solidFill>
                <a:latin typeface="Poppins Light"/>
              </a:rPr>
              <a:t>AASIST</a:t>
            </a:r>
          </a:p>
        </p:txBody>
      </p:sp>
      <p:sp>
        <p:nvSpPr>
          <p:cNvPr id="184" name="Rounded Rectangle 183"/>
          <p:cNvSpPr/>
          <p:nvPr/>
        </p:nvSpPr>
        <p:spPr>
          <a:xfrm>
            <a:off x="3579876" y="2724912"/>
            <a:ext cx="1984248" cy="365760"/>
          </a:xfrm>
          <a:prstGeom prst="roundRect">
            <a:avLst>
              <a:gd name="adj" fmla="val 50000"/>
            </a:avLst>
          </a:prstGeom>
          <a:solidFill>
            <a:srgbClr val="232E52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100" b="0">
                <a:solidFill>
                  <a:srgbClr val="FBE695"/>
                </a:solidFill>
                <a:latin typeface="Poppins Light"/>
              </a:rPr>
              <a:t>faster-whisper (Hindi)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5710428" y="2724912"/>
            <a:ext cx="1517904" cy="365760"/>
          </a:xfrm>
          <a:prstGeom prst="roundRect">
            <a:avLst>
              <a:gd name="adj" fmla="val 50000"/>
            </a:avLst>
          </a:prstGeom>
          <a:solidFill>
            <a:srgbClr val="232E52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100" b="0">
                <a:solidFill>
                  <a:srgbClr val="FBE695"/>
                </a:solidFill>
                <a:latin typeface="Poppins Light"/>
              </a:rPr>
              <a:t>Coercion lexicon</a:t>
            </a:r>
          </a:p>
        </p:txBody>
      </p:sp>
      <p:sp>
        <p:nvSpPr>
          <p:cNvPr id="186" name="Rounded Rectangle 185"/>
          <p:cNvSpPr/>
          <p:nvPr/>
        </p:nvSpPr>
        <p:spPr>
          <a:xfrm>
            <a:off x="7374636" y="2724912"/>
            <a:ext cx="1440180" cy="365760"/>
          </a:xfrm>
          <a:prstGeom prst="roundRect">
            <a:avLst>
              <a:gd name="adj" fmla="val 50000"/>
            </a:avLst>
          </a:prstGeom>
          <a:solidFill>
            <a:srgbClr val="232E52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1100" b="0">
                <a:solidFill>
                  <a:srgbClr val="FBE695"/>
                </a:solidFill>
                <a:latin typeface="Poppins Light"/>
              </a:rPr>
              <a:t>sha256 evidence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566928" y="3456432"/>
            <a:ext cx="11055096" cy="1097280"/>
          </a:xfrm>
          <a:prstGeom prst="roundRect">
            <a:avLst>
              <a:gd name="adj" fmla="val 8000"/>
            </a:avLst>
          </a:prstGeom>
          <a:solidFill>
            <a:srgbClr val="1B2340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841248" y="360273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FBE695"/>
                </a:solidFill>
                <a:latin typeface="Poppins Light"/>
              </a:rPr>
              <a:t>THE FLOW</a:t>
            </a:r>
          </a:p>
        </p:txBody>
      </p:sp>
      <p:sp>
        <p:nvSpPr>
          <p:cNvPr id="189" name="Chevron 188"/>
          <p:cNvSpPr/>
          <p:nvPr/>
        </p:nvSpPr>
        <p:spPr>
          <a:xfrm>
            <a:off x="800099" y="4023360"/>
            <a:ext cx="1426464" cy="420624"/>
          </a:xfrm>
          <a:prstGeom prst="chevron">
            <a:avLst/>
          </a:prstGeom>
          <a:solidFill>
            <a:srgbClr val="232E52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36576"/>
          <a:lstStyle/>
          <a:p>
            <a:pPr algn="ctr"/>
            <a:r>
              <a:rPr sz="950">
                <a:solidFill>
                  <a:srgbClr val="FBE695"/>
                </a:solidFill>
                <a:latin typeface="Poppins Light"/>
              </a:rPr>
              <a:t>audio</a:t>
            </a:r>
          </a:p>
        </p:txBody>
      </p:sp>
      <p:sp>
        <p:nvSpPr>
          <p:cNvPr id="190" name="Chevron 189"/>
          <p:cNvSpPr/>
          <p:nvPr/>
        </p:nvSpPr>
        <p:spPr>
          <a:xfrm>
            <a:off x="2327148" y="4023360"/>
            <a:ext cx="1426464" cy="420624"/>
          </a:xfrm>
          <a:prstGeom prst="chevron">
            <a:avLst/>
          </a:prstGeom>
          <a:solidFill>
            <a:srgbClr val="232E52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36576"/>
          <a:lstStyle/>
          <a:p>
            <a:pPr algn="ctr"/>
            <a:r>
              <a:rPr sz="950">
                <a:solidFill>
                  <a:srgbClr val="FBE695"/>
                </a:solidFill>
                <a:latin typeface="Poppins Light"/>
              </a:rPr>
              <a:t>anti-spoof</a:t>
            </a:r>
          </a:p>
        </p:txBody>
      </p:sp>
      <p:sp>
        <p:nvSpPr>
          <p:cNvPr id="191" name="Chevron 190"/>
          <p:cNvSpPr/>
          <p:nvPr/>
        </p:nvSpPr>
        <p:spPr>
          <a:xfrm>
            <a:off x="3854196" y="4023360"/>
            <a:ext cx="1426464" cy="420624"/>
          </a:xfrm>
          <a:prstGeom prst="chevron">
            <a:avLst/>
          </a:prstGeom>
          <a:solidFill>
            <a:srgbClr val="232E52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36576"/>
          <a:lstStyle/>
          <a:p>
            <a:pPr algn="ctr"/>
            <a:r>
              <a:rPr sz="950">
                <a:solidFill>
                  <a:srgbClr val="FBE695"/>
                </a:solidFill>
                <a:latin typeface="Poppins Light"/>
              </a:rPr>
              <a:t>coercion</a:t>
            </a:r>
          </a:p>
        </p:txBody>
      </p:sp>
      <p:sp>
        <p:nvSpPr>
          <p:cNvPr id="192" name="Chevron 191"/>
          <p:cNvSpPr/>
          <p:nvPr/>
        </p:nvSpPr>
        <p:spPr>
          <a:xfrm>
            <a:off x="5381244" y="4023360"/>
            <a:ext cx="1426464" cy="420624"/>
          </a:xfrm>
          <a:prstGeom prst="chevron">
            <a:avLst/>
          </a:prstGeom>
          <a:solidFill>
            <a:srgbClr val="232E52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36576"/>
          <a:lstStyle/>
          <a:p>
            <a:pPr algn="ctr"/>
            <a:r>
              <a:rPr sz="950">
                <a:solidFill>
                  <a:srgbClr val="FBE695"/>
                </a:solidFill>
                <a:latin typeface="Poppins Light"/>
              </a:rPr>
              <a:t>verdict</a:t>
            </a:r>
          </a:p>
        </p:txBody>
      </p:sp>
      <p:sp>
        <p:nvSpPr>
          <p:cNvPr id="193" name="Chevron 192"/>
          <p:cNvSpPr/>
          <p:nvPr/>
        </p:nvSpPr>
        <p:spPr>
          <a:xfrm>
            <a:off x="6908292" y="4023360"/>
            <a:ext cx="1426464" cy="420624"/>
          </a:xfrm>
          <a:prstGeom prst="chevron">
            <a:avLst/>
          </a:prstGeom>
          <a:solidFill>
            <a:srgbClr val="232E52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36576"/>
          <a:lstStyle/>
          <a:p>
            <a:pPr algn="ctr"/>
            <a:r>
              <a:rPr sz="950">
                <a:solidFill>
                  <a:srgbClr val="FBE695"/>
                </a:solidFill>
                <a:latin typeface="Poppins Light"/>
              </a:rPr>
              <a:t>PAUSE</a:t>
            </a:r>
          </a:p>
        </p:txBody>
      </p:sp>
      <p:sp>
        <p:nvSpPr>
          <p:cNvPr id="194" name="Chevron 193"/>
          <p:cNvSpPr/>
          <p:nvPr/>
        </p:nvSpPr>
        <p:spPr>
          <a:xfrm>
            <a:off x="8435340" y="4023360"/>
            <a:ext cx="1426464" cy="420624"/>
          </a:xfrm>
          <a:prstGeom prst="chevron">
            <a:avLst/>
          </a:prstGeom>
          <a:solidFill>
            <a:srgbClr val="232E52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36576"/>
          <a:lstStyle/>
          <a:p>
            <a:pPr algn="ctr"/>
            <a:r>
              <a:rPr sz="950">
                <a:solidFill>
                  <a:srgbClr val="FBE695"/>
                </a:solidFill>
                <a:latin typeface="Poppins Light"/>
              </a:rPr>
              <a:t>evidence</a:t>
            </a:r>
          </a:p>
        </p:txBody>
      </p:sp>
      <p:sp>
        <p:nvSpPr>
          <p:cNvPr id="195" name="Chevron 194"/>
          <p:cNvSpPr/>
          <p:nvPr/>
        </p:nvSpPr>
        <p:spPr>
          <a:xfrm>
            <a:off x="9962388" y="4023360"/>
            <a:ext cx="1426464" cy="420624"/>
          </a:xfrm>
          <a:prstGeom prst="chevron">
            <a:avLst/>
          </a:prstGeom>
          <a:solidFill>
            <a:srgbClr val="232E52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36576"/>
          <a:lstStyle/>
          <a:p>
            <a:pPr algn="ctr"/>
            <a:r>
              <a:rPr sz="950">
                <a:solidFill>
                  <a:srgbClr val="FBE695"/>
                </a:solidFill>
                <a:latin typeface="Poppins Light"/>
              </a:rPr>
              <a:t>1930 report</a:t>
            </a:r>
          </a:p>
        </p:txBody>
      </p:sp>
      <p:sp>
        <p:nvSpPr>
          <p:cNvPr id="196" name="Rounded Rectangle 195"/>
          <p:cNvSpPr/>
          <p:nvPr/>
        </p:nvSpPr>
        <p:spPr>
          <a:xfrm>
            <a:off x="566928" y="4736592"/>
            <a:ext cx="3520440" cy="1005840"/>
          </a:xfrm>
          <a:prstGeom prst="roundRect">
            <a:avLst>
              <a:gd name="adj" fmla="val 8000"/>
            </a:avLst>
          </a:prstGeom>
          <a:solidFill>
            <a:srgbClr val="1B2340"/>
          </a:solidFill>
          <a:ln w="15240">
            <a:solidFill>
              <a:srgbClr val="D4AF37">
                <a:alpha val="60000"/>
              </a:srgbClr>
            </a:solidFill>
          </a:ln>
          <a:effectLst/>
          <a:effectLst>
            <a:outerShdw blurRad="82296" dist="41148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822960" y="48463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BE695"/>
                </a:solidFill>
                <a:latin typeface="Playfair Display"/>
              </a:rPr>
              <a:t>&lt;500ms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822960" y="5285232"/>
            <a:ext cx="3108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F2EEFA"/>
                </a:solidFill>
                <a:latin typeface="Poppins Light"/>
              </a:rPr>
              <a:t>warm verdict · 66.3ms median 3-crop</a:t>
            </a:r>
          </a:p>
        </p:txBody>
      </p:sp>
      <p:sp>
        <p:nvSpPr>
          <p:cNvPr id="199" name="Rounded Rectangle 198"/>
          <p:cNvSpPr/>
          <p:nvPr/>
        </p:nvSpPr>
        <p:spPr>
          <a:xfrm>
            <a:off x="4334256" y="4736592"/>
            <a:ext cx="3520440" cy="1005840"/>
          </a:xfrm>
          <a:prstGeom prst="roundRect">
            <a:avLst>
              <a:gd name="adj" fmla="val 8000"/>
            </a:avLst>
          </a:prstGeom>
          <a:solidFill>
            <a:srgbClr val="1B2340"/>
          </a:solidFill>
          <a:ln w="15240">
            <a:solidFill>
              <a:srgbClr val="D4AF37">
                <a:alpha val="60000"/>
              </a:srgbClr>
            </a:solidFill>
          </a:ln>
          <a:effectLst/>
          <a:effectLst>
            <a:outerShdw blurRad="82296" dist="41148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4590288" y="48463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BE695"/>
                </a:solidFill>
                <a:latin typeface="Playfair Display"/>
              </a:rPr>
              <a:t>0.9919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4590288" y="5285232"/>
            <a:ext cx="3108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F2EEFA"/>
                </a:solidFill>
                <a:latin typeface="Poppins Light"/>
              </a:rPr>
              <a:t>held-out acc · 0/100 FP</a:t>
            </a:r>
          </a:p>
        </p:txBody>
      </p:sp>
      <p:sp>
        <p:nvSpPr>
          <p:cNvPr id="202" name="Rounded Rectangle 201"/>
          <p:cNvSpPr/>
          <p:nvPr/>
        </p:nvSpPr>
        <p:spPr>
          <a:xfrm>
            <a:off x="8101583" y="4736592"/>
            <a:ext cx="3520440" cy="1005840"/>
          </a:xfrm>
          <a:prstGeom prst="roundRect">
            <a:avLst>
              <a:gd name="adj" fmla="val 8000"/>
            </a:avLst>
          </a:prstGeom>
          <a:solidFill>
            <a:srgbClr val="1B2340"/>
          </a:solidFill>
          <a:ln w="15240">
            <a:solidFill>
              <a:srgbClr val="D4AF37">
                <a:alpha val="60000"/>
              </a:srgbClr>
            </a:solidFill>
          </a:ln>
          <a:effectLst/>
          <a:effectLst>
            <a:outerShdw blurRad="82296" dist="41148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8357616" y="48463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BE695"/>
                </a:solidFill>
                <a:latin typeface="Playfair Display"/>
              </a:rPr>
              <a:t>226/226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8357616" y="5285232"/>
            <a:ext cx="3108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0">
                <a:solidFill>
                  <a:srgbClr val="F2EEFA"/>
                </a:solidFill>
                <a:latin typeface="Poppins Light"/>
              </a:rPr>
              <a:t>aggressive stress tests passed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566928" y="5760720"/>
            <a:ext cx="1105509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850" b="0">
                <a:solidFill>
                  <a:srgbClr val="FBE695"/>
                </a:solidFill>
                <a:latin typeface="Poppins Light"/>
              </a:rPr>
              <a:t>TESTED HARD: audio 31/31 · stress 226/226 · 29/29 real documented scam incidents replayed (BBC/NDTV/TOI/FPJ) · NASK real-fraud: adapted AASIST 4.18% EER (paper result)</a:t>
            </a:r>
          </a:p>
        </p:txBody>
      </p:sp>
      <p:sp>
        <p:nvSpPr>
          <p:cNvPr id="206" name="Rounded Rectangle 205"/>
          <p:cNvSpPr/>
          <p:nvPr/>
        </p:nvSpPr>
        <p:spPr>
          <a:xfrm>
            <a:off x="566928" y="5925312"/>
            <a:ext cx="11055096" cy="713232"/>
          </a:xfrm>
          <a:prstGeom prst="roundRect">
            <a:avLst>
              <a:gd name="adj" fmla="val 8000"/>
            </a:avLst>
          </a:prstGeom>
          <a:solidFill>
            <a:srgbClr val="232E52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777240" y="5998464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150" b="1">
                <a:solidFill>
                  <a:srgbClr val="FBE695"/>
                </a:solidFill>
                <a:latin typeface="Poppins Light"/>
              </a:rPr>
              <a:t>THE WALL · and how we beat it: consumer apps can't record live calls (VOICE_CALL is privileged).</a:t>
            </a:r>
          </a:p>
          <a:p>
            <a:pPr algn="ctr">
              <a:lnSpc>
                <a:spcPct val="105000"/>
              </a:lnSpc>
            </a:pPr>
            <a:r>
              <a:rPr sz="1000" b="0">
                <a:solidFill>
                  <a:srgbClr val="F2EEFA"/>
                </a:solidFill>
                <a:latin typeface="Poppins Light"/>
              </a:rPr>
              <a:t>We own the moments Android allows: pre-ring · payment screen · notification · post-call file · L0 to L4 + CPaaS tiers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382BC47-C1E8-211A-F7F3-99B987C7EA8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32734" y="-74663"/>
            <a:ext cx="12457469" cy="7007326"/>
            <a:chOff x="-157315" y="-88489"/>
            <a:chExt cx="12457469" cy="7007326"/>
          </a:xfrm>
        </p:grpSpPr>
        <p:pic>
          <p:nvPicPr>
            <p:cNvPr id="3" name="Google Shape;84;p13" descr="image.png">
              <a:extLst>
                <a:ext uri="{FF2B5EF4-FFF2-40B4-BE49-F238E27FC236}">
                  <a16:creationId xmlns:a16="http://schemas.microsoft.com/office/drawing/2014/main" id="{C50263B4-4851-C499-7453-724CE8EF500B}"/>
                </a:ext>
              </a:extLst>
            </p:cNvPr>
            <p:cNvPicPr preferRelativeResize="0">
              <a:picLocks noGrp="1" noRot="1" noMove="1" noResize="1" noEditPoints="1" noAdjustHandles="1" noChangeArrowheads="1" noChangeShapeType="1" noCrop="1"/>
            </p:cNvPicPr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157315" y="-88489"/>
              <a:ext cx="12457469" cy="70073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" name="Google Shape;98;p14" descr="image.png">
              <a:extLst>
                <a:ext uri="{FF2B5EF4-FFF2-40B4-BE49-F238E27FC236}">
                  <a16:creationId xmlns:a16="http://schemas.microsoft.com/office/drawing/2014/main" id="{0ED84BD7-0591-5A0E-6A51-006CBA369A9B}"/>
                </a:ext>
              </a:extLst>
            </p:cNvPr>
            <p:cNvPicPr preferRelativeResize="0">
              <a:picLocks noGrp="1" noRot="1" noMove="1" noResize="1" noEditPoints="1" noAdjustHandles="1" noChangeArrowheads="1" noChangeShapeType="1" noCrop="1"/>
            </p:cNvPicPr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8" name="Google Shape;158;p17"/>
          <p:cNvSpPr txBox="1"/>
          <p:nvPr/>
        </p:nvSpPr>
        <p:spPr>
          <a:xfrm>
            <a:off x="11801475" y="6467475"/>
            <a:ext cx="2000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07</a:t>
            </a:r>
          </a:p>
        </p:txBody>
      </p:sp>
      <p:sp>
        <p:nvSpPr>
          <p:cNvPr id="6" name="Google Shape;144;p16">
            <a:extLst>
              <a:ext uri="{FF2B5EF4-FFF2-40B4-BE49-F238E27FC236}">
                <a16:creationId xmlns:a16="http://schemas.microsoft.com/office/drawing/2014/main" id="{FDB0C6B6-D604-F5FA-8C1F-20E675C8EE7E}"/>
              </a:ext>
            </a:extLst>
          </p:cNvPr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43EAE13-7287-2B9A-1824-778F4241D5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61386" y="134593"/>
            <a:ext cx="2259114" cy="1169718"/>
          </a:xfrm>
          <a:prstGeom prst="rect">
            <a:avLst/>
          </a:prstGeom>
        </p:spPr>
      </p:pic>
      <p:sp>
        <p:nvSpPr>
          <p:cNvPr id="174" name="Rectangle 173"/>
          <p:cNvSpPr/>
          <p:nvPr/>
        </p:nvSpPr>
        <p:spPr>
          <a:xfrm>
            <a:off x="-274320" y="-274320"/>
            <a:ext cx="12710160" cy="7406640"/>
          </a:xfrm>
          <a:prstGeom prst="rect">
            <a:avLst/>
          </a:prstGeom>
          <a:solidFill>
            <a:srgbClr val="141A2E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9052560" y="3840480"/>
            <a:ext cx="5486400" cy="3657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3000" b="1">
                <a:solidFill>
                  <a:srgbClr val="FBE695">
                    <a:alpha val="5000"/>
                  </a:srgbClr>
                </a:solidFill>
                <a:solidFill>
                  <a:srgbClr val="FBE695"/>
                </a:solidFill>
                <a:latin typeface="Playfair Display"/>
              </a:rPr>
              <a:t>0.37%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566928" y="1371600"/>
            <a:ext cx="1105509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BE695"/>
                </a:solidFill>
                <a:latin typeface="Playfair Display"/>
              </a:rPr>
              <a:t>IMPACT · SECONDS TO INTERVENTION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F2EEFA"/>
                </a:solidFill>
                <a:latin typeface="Poppins Light"/>
              </a:rPr>
              <a:t>Measured on outcomes, not model scores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566928" y="2377440"/>
            <a:ext cx="11055096" cy="1737360"/>
          </a:xfrm>
          <a:prstGeom prst="roundRect">
            <a:avLst>
              <a:gd name="adj" fmla="val 8000"/>
            </a:avLst>
          </a:prstGeom>
          <a:solidFill>
            <a:srgbClr val="232E52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841248" y="2578608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BE695"/>
                </a:solidFill>
                <a:latin typeface="Playfair Display"/>
              </a:rPr>
              <a:t>SECONDS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841248" y="342900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F2EEFA"/>
                </a:solidFill>
                <a:latin typeface="Poppins Light"/>
              </a:rPr>
              <a:t>to intervention · vs minutes-to-loss. Every second is a payment that didn't move. The ₹4,057.7cr runway is the market.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6766560" y="2615184"/>
            <a:ext cx="4572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Playfair Display"/>
              </a:rPr>
              <a:t>0.37%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766560" y="3127248"/>
            <a:ext cx="4572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F2EEFA"/>
                </a:solidFill>
                <a:latin typeface="Poppins Light"/>
              </a:rPr>
              <a:t>of ₹56,087cr reported was refunded · prevention is the only answer</a:t>
            </a:r>
          </a:p>
          <a:p>
            <a:pPr algn="l">
              <a:lnSpc>
                <a:spcPct val="112000"/>
              </a:lnSpc>
            </a:pPr>
            <a:r>
              <a:rPr sz="1100" b="1">
                <a:solidFill>
                  <a:srgbClr val="FBE695"/>
                </a:solidFill>
                <a:latin typeface="Poppins Light"/>
              </a:rPr>
              <a:t>RBI consulting on small-value fraud compensation (Mar 2026) · prevention stays the only reliable defence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566928" y="4343400"/>
            <a:ext cx="3520440" cy="1920240"/>
          </a:xfrm>
          <a:prstGeom prst="roundRect">
            <a:avLst>
              <a:gd name="adj" fmla="val 8000"/>
            </a:avLst>
          </a:prstGeom>
          <a:solidFill>
            <a:srgbClr val="1B2340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841247" y="452628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FBE695"/>
                </a:solidFill>
                <a:latin typeface="Playfair Display"/>
              </a:rPr>
              <a:t>SOCIAL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841247" y="4956048"/>
            <a:ext cx="3017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F2EEFA"/>
                </a:solidFill>
                <a:latin typeface="Poppins Light"/>
              </a:rPr>
              <a:t>elders stay independent · families stay connected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4334256" y="4343400"/>
            <a:ext cx="3520440" cy="1920240"/>
          </a:xfrm>
          <a:prstGeom prst="roundRect">
            <a:avLst>
              <a:gd name="adj" fmla="val 8000"/>
            </a:avLst>
          </a:prstGeom>
          <a:solidFill>
            <a:srgbClr val="1B2340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4608576" y="452628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FBE695"/>
                </a:solidFill>
                <a:latin typeface="Playfair Display"/>
              </a:rPr>
              <a:t>ECONOMIC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4608576" y="4956048"/>
            <a:ext cx="3017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F2EEFA"/>
                </a:solidFill>
                <a:latin typeface="Poppins Light"/>
              </a:rPr>
              <a:t>feeds ₹7,130cr-saved reporting rails (1930 / CFCFRMS) + DoT FRI (~₹660 cr, reported)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8101583" y="4343400"/>
            <a:ext cx="3520440" cy="1920240"/>
          </a:xfrm>
          <a:prstGeom prst="roundRect">
            <a:avLst>
              <a:gd name="adj" fmla="val 8000"/>
            </a:avLst>
          </a:prstGeom>
          <a:solidFill>
            <a:srgbClr val="1B2340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8375904" y="452628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1">
                <a:solidFill>
                  <a:srgbClr val="FBE695"/>
                </a:solidFill>
                <a:latin typeface="Playfair Display"/>
              </a:rPr>
              <a:t>NATIONAL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8375904" y="4956048"/>
            <a:ext cx="3017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F2EEFA"/>
                </a:solidFill>
                <a:latin typeface="Poppins Light"/>
              </a:rPr>
              <a:t>digital sovereignty · privacy-first by architecture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566928" y="6327648"/>
            <a:ext cx="11055096" cy="457200"/>
          </a:xfrm>
          <a:prstGeom prst="roundRect">
            <a:avLst>
              <a:gd name="adj" fmla="val 8000"/>
            </a:avLst>
          </a:prstGeom>
          <a:solidFill>
            <a:srgbClr val="232E52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777240" y="6373368"/>
            <a:ext cx="10607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FBE695"/>
                </a:solidFill>
                <a:latin typeface="Poppins Light"/>
              </a:rPr>
              <a:t>EVERY DOCUMENTED SCAM WE REPLAY IS A CASE WE DETECT IN TESTS · 29/29 flagged (BBC/NDTV/TOI/FPJ registry)</a:t>
            </a:r>
          </a:p>
          <a:p>
            <a:pPr algn="ctr">
              <a:lnSpc>
                <a:spcPct val="112000"/>
              </a:lnSpc>
            </a:pPr>
            <a:r>
              <a:rPr sz="950" b="0">
                <a:solidFill>
                  <a:srgbClr val="FFFFFF"/>
                </a:solidFill>
                <a:latin typeface="Poppins Light"/>
              </a:rPr>
              <a:t>against 1,23,672 digital-arrest complaints on record (SC order, Aug 4 2026)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4;p13_r1_r19" descr="image.png">
            <a:extLst>
              <a:ext uri="{FF2B5EF4-FFF2-40B4-BE49-F238E27FC236}">
                <a16:creationId xmlns:a16="http://schemas.microsoft.com/office/drawing/2014/main" id="{A7427FBB-6B82-28C2-C807-6A3DF49A1F1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57315" y="-88489"/>
            <a:ext cx="12457469" cy="7007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8;p14_r2_r20" descr="image.png"/>
          <p:cNvPicPr preferRelativeResize="0"/>
          <p:nvPr/>
        </p:nvPicPr>
        <p:blipFill rotWithShape="1">
          <a:blip r:embed="rId4">
            <a:alphaModFix amt="50000"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0;p14_r16_r26"/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1;p14_r17_r27"/>
          <p:cNvSpPr txBox="1"/>
          <p:nvPr/>
        </p:nvSpPr>
        <p:spPr>
          <a:xfrm>
            <a:off x="11706225" y="6467475"/>
            <a:ext cx="20002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08</a:t>
            </a:r>
          </a:p>
        </p:txBody>
      </p:sp>
      <p:pic>
        <p:nvPicPr>
          <p:cNvPr id="13" name="Picture 6_r18_r28">
            <a:extLst>
              <a:ext uri="{FF2B5EF4-FFF2-40B4-BE49-F238E27FC236}">
                <a16:creationId xmlns:a16="http://schemas.microsoft.com/office/drawing/2014/main" id="{81D6A019-74ED-9001-54F2-BCA9F7EF5C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1386" y="134593"/>
            <a:ext cx="2259114" cy="1169718"/>
          </a:xfrm>
          <a:prstGeom prst="rect">
            <a:avLst/>
          </a:prstGeom>
        </p:spPr>
      </p:pic>
      <p:sp>
        <p:nvSpPr>
          <p:cNvPr id="128" name="Rectangle 127"/>
          <p:cNvSpPr/>
          <p:nvPr/>
        </p:nvSpPr>
        <p:spPr>
          <a:xfrm>
            <a:off x="-274320" y="-274320"/>
            <a:ext cx="12710160" cy="7406640"/>
          </a:xfrm>
          <a:prstGeom prst="rect">
            <a:avLst/>
          </a:prstGeom>
          <a:solidFill>
            <a:srgbClr val="141A2E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66928" y="1298448"/>
            <a:ext cx="1105509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BE695"/>
                </a:solidFill>
                <a:latin typeface="Playfair Display"/>
              </a:rPr>
              <a:t>WORKING PROTOTYPE · ENGINE REAL, UI IN BUILD</a:t>
            </a:r>
          </a:p>
          <a:p>
            <a:pPr algn="l">
              <a:lnSpc>
                <a:spcPct val="100000"/>
              </a:lnSpc>
            </a:pPr>
            <a:r>
              <a:rPr sz="1350" b="0">
                <a:solidFill>
                  <a:srgbClr val="F2EEFA"/>
                </a:solidFill>
                <a:latin typeface="Poppins Light"/>
              </a:rPr>
              <a:t>What exists is real and measured · the screens show the spec, on a real device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566928" y="2331720"/>
            <a:ext cx="5577840" cy="3977639"/>
          </a:xfrm>
          <a:prstGeom prst="roundRect">
            <a:avLst>
              <a:gd name="adj" fmla="val 8000"/>
            </a:avLst>
          </a:prstGeom>
          <a:solidFill>
            <a:srgbClr val="1B2340"/>
          </a:solidFill>
          <a:ln w="15240">
            <a:solidFill>
              <a:srgbClr val="D4AF37">
                <a:alpha val="60000"/>
              </a:srgbClr>
            </a:solidFill>
          </a:ln>
          <a:effectLst/>
          <a:effectLst>
            <a:outerShdw blurRad="82296" dist="41148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1" name="Picture 130" descr="phone-victim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1600" y="2560320"/>
            <a:ext cx="1828800" cy="3644153"/>
          </a:xfrm>
          <a:prstGeom prst="rect">
            <a:avLst/>
          </a:prstGeom>
        </p:spPr>
      </p:pic>
      <p:pic>
        <p:nvPicPr>
          <p:cNvPr id="132" name="Picture 131" descr="phone-famil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29000" y="2560320"/>
            <a:ext cx="1828800" cy="3644153"/>
          </a:xfrm>
          <a:prstGeom prst="rect">
            <a:avLst/>
          </a:prstGeom>
        </p:spPr>
      </p:pic>
      <p:sp>
        <p:nvSpPr>
          <p:cNvPr id="133" name="Rounded Rectangle 132"/>
          <p:cNvSpPr/>
          <p:nvPr/>
        </p:nvSpPr>
        <p:spPr>
          <a:xfrm>
            <a:off x="5120640" y="2231136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45720" rIns="45720" tIns="0" bIns="0"/>
          <a:lstStyle/>
          <a:p>
            <a:pPr algn="ctr"/>
            <a:r>
              <a:rPr sz="850" b="1">
                <a:solidFill>
                  <a:srgbClr val="1B2340"/>
                </a:solidFill>
                <a:latin typeface="Poppins Light"/>
              </a:rPr>
              <a:t>CONCEPT UI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77240" y="635508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F2EEFA"/>
                </a:solidFill>
                <a:latin typeface="Poppins Light"/>
              </a:rPr>
              <a:t>Real device photo · spec screens composited. Final design under build.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6400800" y="2331720"/>
            <a:ext cx="5221224" cy="1463040"/>
          </a:xfrm>
          <a:prstGeom prst="roundRect">
            <a:avLst>
              <a:gd name="adj" fmla="val 8000"/>
            </a:avLst>
          </a:prstGeom>
          <a:solidFill>
            <a:srgbClr val="1B2340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675120" y="246888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>
                <a:solidFill>
                  <a:srgbClr val="FBE695"/>
                </a:solidFill>
                <a:latin typeface="Poppins Light"/>
              </a:rPr>
              <a:t>ENGINE · BUILT &amp; VERIFIED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675120" y="2761488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BE695"/>
                </a:solidFill>
                <a:latin typeface="Playfair Display"/>
              </a:rPr>
              <a:t>0.9919 acc · 0/100 FP · &lt;500ms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675120" y="3273552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>
                <a:solidFill>
                  <a:srgbClr val="F2EEFA"/>
                </a:solidFill>
                <a:latin typeface="Poppins Light"/>
              </a:rPr>
              <a:t>AASIST-hindi · 3-crop vote · held-out + real-case registry 29/29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6400800" y="3950208"/>
            <a:ext cx="5221224" cy="1371600"/>
          </a:xfrm>
          <a:prstGeom prst="roundRect">
            <a:avLst>
              <a:gd name="adj" fmla="val 8000"/>
            </a:avLst>
          </a:prstGeom>
          <a:solidFill>
            <a:srgbClr val="1B2340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0" name="Picture 139" descr="evidence-kavach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75120" y="4114800"/>
            <a:ext cx="1371600" cy="1939834"/>
          </a:xfrm>
          <a:prstGeom prst="rect">
            <a:avLst/>
          </a:prstGeom>
        </p:spPr>
      </p:pic>
      <p:sp>
        <p:nvSpPr>
          <p:cNvPr id="141" name="TextBox 140"/>
          <p:cNvSpPr txBox="1"/>
          <p:nvPr/>
        </p:nvSpPr>
        <p:spPr>
          <a:xfrm>
            <a:off x="8275320" y="4133087"/>
            <a:ext cx="3200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>
                <a:solidFill>
                  <a:srgbClr val="FBE695"/>
                </a:solidFill>
                <a:latin typeface="Poppins Light"/>
              </a:rPr>
              <a:t>EVIDENCE PACKET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F2EEFA"/>
                </a:solidFill>
                <a:latin typeface="Poppins Light"/>
              </a:rPr>
              <a:t>tamper-evident sha256 chain → 1930-ready PDF</a:t>
            </a:r>
          </a:p>
          <a:p>
            <a:pPr algn="l">
              <a:lnSpc>
                <a:spcPct val="112000"/>
              </a:lnSpc>
            </a:pPr>
            <a:r>
              <a:rPr sz="1050" b="0">
                <a:solidFill>
                  <a:srgbClr val="F2EEFA"/>
                </a:solidFill>
                <a:latin typeface="Poppins Light"/>
              </a:rPr>
              <a:t>70 packets · 90% tamper-catch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6400800" y="5486400"/>
            <a:ext cx="5221224" cy="822960"/>
          </a:xfrm>
          <a:prstGeom prst="roundRect">
            <a:avLst>
              <a:gd name="adj" fmla="val 8000"/>
            </a:avLst>
          </a:prstGeom>
          <a:solidFill>
            <a:srgbClr val="1B2340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6675120" y="5596128"/>
            <a:ext cx="4663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>
                <a:solidFill>
                  <a:srgbClr val="FBE695"/>
                </a:solidFill>
                <a:latin typeface="Playfair Display"/>
                <a:hlinkClick r:id="rId11"/>
              </a:rPr>
              <a:t>github.com/harshgounder/kavach</a:t>
            </a:r>
          </a:p>
          <a:p>
            <a:pPr algn="l">
              <a:lnSpc>
                <a:spcPct val="112000"/>
              </a:lnSpc>
            </a:pPr>
            <a:r>
              <a:rPr sz="1000" b="0">
                <a:solidFill>
                  <a:srgbClr val="F2EEFA"/>
                </a:solidFill>
                <a:latin typeface="Poppins Light"/>
              </a:rPr>
              <a:t>engine · coercion · evidence · battery tests · public repo (click to open)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C816A02-64BD-FBFB-2E8F-FE68591AE819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132734" y="-74663"/>
            <a:ext cx="12457469" cy="7007326"/>
            <a:chOff x="-157315" y="-88489"/>
            <a:chExt cx="12457469" cy="7007326"/>
          </a:xfrm>
        </p:grpSpPr>
        <p:pic>
          <p:nvPicPr>
            <p:cNvPr id="3" name="Google Shape;84;p13" descr="image.png">
              <a:extLst>
                <a:ext uri="{FF2B5EF4-FFF2-40B4-BE49-F238E27FC236}">
                  <a16:creationId xmlns:a16="http://schemas.microsoft.com/office/drawing/2014/main" id="{0FC4E61E-2819-88A1-4D2E-25F6C534E60D}"/>
                </a:ext>
              </a:extLst>
            </p:cNvPr>
            <p:cNvPicPr preferRelativeResize="0">
              <a:picLocks noGrp="1" noRot="1" noMove="1" noResize="1" noEditPoints="1" noAdjustHandles="1" noChangeArrowheads="1" noChangeShapeType="1" noCrop="1"/>
            </p:cNvPicPr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-157315" y="-88489"/>
              <a:ext cx="12457469" cy="70073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" name="Google Shape;98;p14" descr="image.png">
              <a:extLst>
                <a:ext uri="{FF2B5EF4-FFF2-40B4-BE49-F238E27FC236}">
                  <a16:creationId xmlns:a16="http://schemas.microsoft.com/office/drawing/2014/main" id="{062BE52A-6744-24D5-7827-BF7ABFAE66D8}"/>
                </a:ext>
              </a:extLst>
            </p:cNvPr>
            <p:cNvPicPr preferRelativeResize="0">
              <a:picLocks noGrp="1" noRot="1" noMove="1" noResize="1" noEditPoints="1" noAdjustHandles="1" noChangeArrowheads="1" noChangeShapeType="1" noCrop="1"/>
            </p:cNvPicPr>
            <p:nvPr/>
          </p:nvPicPr>
          <p:blipFill rotWithShape="1">
            <a:blip r:embed="rId4">
              <a:alphaModFix amt="50000"/>
            </a:blip>
            <a:srcRect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0" name="Google Shape;170;p18"/>
          <p:cNvSpPr txBox="1"/>
          <p:nvPr/>
        </p:nvSpPr>
        <p:spPr>
          <a:xfrm>
            <a:off x="11696700" y="6467475"/>
            <a:ext cx="2095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t>09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B84B2B-35C3-CD70-ED94-211E6AF95D2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93919" y="141850"/>
            <a:ext cx="2259114" cy="1169718"/>
          </a:xfrm>
          <a:prstGeom prst="rect">
            <a:avLst/>
          </a:prstGeom>
        </p:spPr>
      </p:pic>
      <p:sp>
        <p:nvSpPr>
          <p:cNvPr id="184" name="Rectangle 183"/>
          <p:cNvSpPr/>
          <p:nvPr/>
        </p:nvSpPr>
        <p:spPr>
          <a:xfrm>
            <a:off x="-274320" y="-274320"/>
            <a:ext cx="12710160" cy="7406640"/>
          </a:xfrm>
          <a:prstGeom prst="rect">
            <a:avLst/>
          </a:prstGeom>
          <a:solidFill>
            <a:srgbClr val="141A2E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Google Shape;144;p16">
            <a:extLst>
              <a:ext uri="{FF2B5EF4-FFF2-40B4-BE49-F238E27FC236}">
                <a16:creationId xmlns:a16="http://schemas.microsoft.com/office/drawing/2014/main" id="{D7515F0B-1E18-86AF-90B0-D093B0E72B20}"/>
              </a:ext>
            </a:extLst>
          </p:cNvPr>
          <p:cNvSpPr/>
          <p:nvPr/>
        </p:nvSpPr>
        <p:spPr>
          <a:xfrm>
            <a:off x="571500" y="1323975"/>
            <a:ext cx="11049000" cy="1905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TextBox 184"/>
          <p:cNvSpPr txBox="1"/>
          <p:nvPr/>
        </p:nvSpPr>
        <p:spPr>
          <a:xfrm>
            <a:off x="566928" y="1325880"/>
            <a:ext cx="1105509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BE695"/>
                </a:solidFill>
                <a:latin typeface="Playfair Display"/>
              </a:rPr>
              <a:t>RESEARCH AND REFERENCES</a:t>
            </a:r>
          </a:p>
        </p:txBody>
      </p:sp>
      <p:sp>
        <p:nvSpPr>
          <p:cNvPr id="186" name="Rounded Rectangle 185"/>
          <p:cNvSpPr/>
          <p:nvPr/>
        </p:nvSpPr>
        <p:spPr>
          <a:xfrm>
            <a:off x="566928" y="2011680"/>
            <a:ext cx="11055096" cy="2743200"/>
          </a:xfrm>
          <a:prstGeom prst="roundRect">
            <a:avLst>
              <a:gd name="adj" fmla="val 8000"/>
            </a:avLst>
          </a:prstGeom>
          <a:solidFill>
            <a:srgbClr val="1B2340"/>
          </a:solidFill>
          <a:ln w="15240">
            <a:solidFill>
              <a:srgbClr val="D4AF37">
                <a:alpha val="6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868680" y="2212848"/>
            <a:ext cx="105156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F2EEFA"/>
                </a:solidFill>
                <a:latin typeface="Poppins Light"/>
                <a:hlinkClick r:id="rId8"/>
              </a:rPr>
              <a:t>1. RBI/2024-25/105 · voice/SMS fraud safeguards (Jan 2025) · rbi.org.in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868680" y="2615184"/>
            <a:ext cx="105156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F2EEFA"/>
                </a:solidFill>
                <a:latin typeface="Poppins Light"/>
                <a:hlinkClick r:id="rId9"/>
              </a:rPr>
              <a:t>2. RBI Auth Directions 2025 (RBI/2025-26/79) · 2FA mandatory Apr 2026 · rbi.org.in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868680" y="3017520"/>
            <a:ext cx="105156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F2EEFA"/>
                </a:solidFill>
                <a:latin typeface="Poppins Light"/>
                <a:hlinkClick r:id="rId10"/>
              </a:rPr>
              <a:t>3. CERT-In CIAD-2024-0060 · Deepfakes: threats &amp; countermeasures · cert-in.org.in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868680" y="3419856"/>
            <a:ext cx="105156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F2EEFA"/>
                </a:solidFill>
                <a:latin typeface="Poppins Light"/>
                <a:hlinkClick r:id="rId11"/>
              </a:rPr>
              <a:t>4. DoT FRI: 1000+ banks/TPAPs · ~₹660 cr potential losses prevented, reported (Dec 2025) · pib.gov.in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868680" y="3822191"/>
            <a:ext cx="105156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F2EEFA"/>
                </a:solidFill>
                <a:latin typeface="Poppins Light"/>
                <a:hlinkClick r:id="rId12"/>
              </a:rPr>
              <a:t>5. SC order Aug 4 2026 · digital-arrest complaints 1,23,672 → 16,377 (I4C data) · thehindubusinessline.com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868680" y="4224528"/>
            <a:ext cx="105156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F2EEFA"/>
                </a:solidFill>
                <a:latin typeface="Poppins Light"/>
                <a:hlinkClick r:id="rId13"/>
              </a:rPr>
              <a:t>6. ASVspoof 2021 LA (zenodo) + NASK real-fraud (WACV 2026, CVF open access) · dataset restricted</a:t>
            </a:r>
          </a:p>
        </p:txBody>
      </p:sp>
      <p:sp>
        <p:nvSpPr>
          <p:cNvPr id="193" name="Rounded Rectangle 192"/>
          <p:cNvSpPr/>
          <p:nvPr/>
        </p:nvSpPr>
        <p:spPr>
          <a:xfrm>
            <a:off x="566928" y="4983480"/>
            <a:ext cx="11055096" cy="1234440"/>
          </a:xfrm>
          <a:prstGeom prst="roundRect">
            <a:avLst>
              <a:gd name="adj" fmla="val 8000"/>
            </a:avLst>
          </a:prstGeom>
          <a:solidFill>
            <a:srgbClr val="232E52"/>
          </a:solidFill>
          <a:ln w="15240">
            <a:solidFill>
              <a:srgbClr val="D4AF37">
                <a:alpha val="60000"/>
              </a:srgbClr>
            </a:solidFill>
          </a:ln>
          <a:effectLst/>
          <a:effectLst>
            <a:outerShdw blurRad="82296" dist="41148" dir="540000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868680" y="5120640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>
                <a:solidFill>
                  <a:srgbClr val="FBE695"/>
                </a:solidFill>
                <a:latin typeface="Playfair Display"/>
              </a:rPr>
              <a:t>KAVACH · THE SHIELD EVERY INDIAN FAMILY DESERVES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868680" y="5596128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>
                <a:solidFill>
                  <a:srgbClr val="F2EEFA"/>
                </a:solidFill>
                <a:latin typeface="Poppins Light"/>
              </a:rPr>
              <a:t>Recognize → Interrupt → Verify → Package → Report · Team 511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868680" y="635508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00" b="0">
                <a:solidFill>
                  <a:srgbClr val="888888"/>
                </a:solidFill>
                <a:latin typeface="Poppins Light"/>
              </a:rPr>
              <a:t>GenAI used for support only · every output cross-verified by our QA process. Model training, evaluation and this submission's technical claims are our own work.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188</Words>
  <Application>Microsoft Macintosh PowerPoint</Application>
  <PresentationFormat>Widescreen</PresentationFormat>
  <Paragraphs>38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Poppins Light</vt:lpstr>
      <vt:lpstr>Times New Roman</vt:lpstr>
      <vt:lpstr>Playfair Display</vt:lpstr>
      <vt:lpstr>Arial</vt:lpstr>
      <vt:lpstr>Poppins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Keshav Anand [CCE - 2024]</cp:lastModifiedBy>
  <cp:revision>9</cp:revision>
  <dcterms:modified xsi:type="dcterms:W3CDTF">2026-07-06T08:50:05Z</dcterms:modified>
</cp:coreProperties>
</file>