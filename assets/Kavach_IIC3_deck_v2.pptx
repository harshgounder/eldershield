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66" r:id="rId8"/>
    <p:sldId id="258" r:id="rId4"/>
    <p:sldId id="259" r:id="rId5"/>
    <p:sldId id="260" r:id="rId6"/>
    <p:sldId id="264" r:id="rId27"/>
    <p:sldId id="261" r:id="rId7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Relationship Id="rId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7772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Kavach - India's First Anti-Digital-Arrest Shield</a:t>
            </a:r>
            <a:endParaRPr dirty="0"/>
          </a:p>
          <a:p>
            <a:r>
              <a:rPr sz="1800" b="1">
                <a:solidFill>
                  <a:srgbClr val="FFFFFF"/>
                </a:solidFill>
              </a:rPr>
              <a:t>Recognize → Interrupt → Verify → Package → Report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Name: 511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2_r3_r27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_r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DIGITAL ARREST IS INDIA'S FASTEST-GROWING FRAUD -</a:t>
              </a:r>
              <a:endParaRPr dirty="0"/>
            </a:p>
            <a:p>
              <a:r>
                <a:rPr>
                  <a:solidFill>
                    <a:srgbClr val="FFFFFF"/>
                  </a:solidFill>
                </a:rPr>
                <a:t>AND ELDERS ARE THE TARGET</a:t>
              </a:r>
            </a:p>
          </p:txBody>
        </p:sp>
        <p:pic>
          <p:nvPicPr>
            <p:cNvPr id="105" name="Google Shape;105;p14_r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3_r6_r28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_r7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₹4,057.7 crore lost · 297,727 complaints (2022–May 2026)</a:t>
              </a:r>
              <a:endParaRPr dirty="0"/>
            </a:p>
          </p:txBody>
        </p:sp>
        <p:pic>
          <p:nvPicPr>
            <p:cNvPr id="106" name="Google Shape;106;p14_r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4_r9_r29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_r10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Fake 'CBI / TRAI / ED' calls: victim isolated, coerced to pay</a:t>
              </a:r>
              <a:endParaRPr dirty="0"/>
            </a:p>
          </p:txBody>
        </p:sp>
        <p:pic>
          <p:nvPicPr>
            <p:cNvPr id="107" name="Google Shape;107;p14_r1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5_r12_r30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_r1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Elders = primary targets - fear + obedience exploited</a:t>
              </a:r>
              <a:endParaRPr dirty="0"/>
            </a:p>
          </p:txBody>
        </p:sp>
        <p:pic>
          <p:nvPicPr>
            <p:cNvPr id="108" name="Google Shape;108;p14_r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09;p14_r15_r3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dirty="0"/>
          </a:p>
        </p:txBody>
      </p:sp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02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grpSp>
        <p:nvGrpSpPr>
          <p:cNvPr id="16" name="Group 5_r19_r3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842353"/>
            <a:ext cx="5238750" cy="314325"/>
            <a:chOff x="571500" y="4762500"/>
            <a:chExt cx="5238750" cy="314325"/>
          </a:xfrm>
        </p:grpSpPr>
        <p:sp>
          <p:nvSpPr>
            <p:cNvPr id="104" name="Google Shape;103;p14_r20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Losses grew 20× by 2024; every bank warns, no defense exists</a:t>
              </a:r>
              <a:endParaRPr dirty="0"/>
            </a:p>
          </p:txBody>
        </p:sp>
        <p:pic>
          <p:nvPicPr>
            <p:cNvPr id="112" name="Google Shape;108;p14_r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roup 5_r22_r36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5390993"/>
            <a:ext cx="5238750" cy="314325"/>
            <a:chOff x="571500" y="4762500"/>
            <a:chExt cx="5238750" cy="314325"/>
          </a:xfrm>
        </p:grpSpPr>
        <p:sp>
          <p:nvSpPr>
            <p:cNvPr id="113" name="Google Shape;103;p14_r2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Fraud completes at ONE moment: the UPI payment - unguarded</a:t>
              </a:r>
              <a:endParaRPr dirty="0"/>
            </a:p>
          </p:txBody>
        </p:sp>
        <p:pic>
          <p:nvPicPr>
            <p:cNvPr id="114" name="Google Shape;108;p14_r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2_r3_r27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_r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</a:t>
              </a:r>
              <a:endParaRPr dirty="0"/>
            </a:p>
          </p:txBody>
        </p:sp>
        <p:pic>
          <p:nvPicPr>
            <p:cNvPr id="105" name="Google Shape;105;p14_r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3_r6_r28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_r7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On-call AI flags scam language + pressure (Hindi first)</a:t>
              </a:r>
              <a:endParaRPr dirty="0"/>
            </a:p>
          </p:txBody>
        </p:sp>
        <p:pic>
          <p:nvPicPr>
            <p:cNvPr id="106" name="Google Shape;106;p14_r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4_r9_r29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_r10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PAUSE at the payment moment: warn + family confirmation before PIN</a:t>
              </a:r>
              <a:endParaRPr dirty="0"/>
            </a:p>
          </p:txBody>
        </p:sp>
        <p:pic>
          <p:nvPicPr>
            <p:cNvPr id="107" name="Google Shape;107;p14_r1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5_r12_r30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_r1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One-tap verified report to 1930 / Chakshu, tamper-proof evidence</a:t>
              </a:r>
              <a:endParaRPr dirty="0"/>
            </a:p>
          </p:txBody>
        </p:sp>
        <p:pic>
          <p:nvPicPr>
            <p:cNvPr id="108" name="Google Shape;108;p14_r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09;p14_r15_r3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KAVACH - RECOGNIZE → INTERRUPT →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VERIFY → PACKAGE → REPORT</a:t>
            </a:r>
          </a:p>
        </p:txBody>
      </p:sp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03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grpSp>
        <p:nvGrpSpPr>
          <p:cNvPr id="16" name="Group 5_r19_r3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842353"/>
            <a:ext cx="5238750" cy="314325"/>
            <a:chOff x="571500" y="4762500"/>
            <a:chExt cx="5238750" cy="314325"/>
          </a:xfrm>
        </p:grpSpPr>
        <p:sp>
          <p:nvSpPr>
            <p:cNvPr id="104" name="Google Shape;103;p14_r20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How it solves: owns the seconds between 'scam' and 'money moved'</a:t>
              </a:r>
              <a:endParaRPr dirty="0"/>
            </a:p>
          </p:txBody>
        </p:sp>
        <p:pic>
          <p:nvPicPr>
            <p:cNvPr id="112" name="Google Shape;108;p14_r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roup 5_r22_r36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5390993"/>
            <a:ext cx="5238750" cy="314325"/>
            <a:chOff x="571500" y="4762500"/>
            <a:chExt cx="5238750" cy="314325"/>
          </a:xfrm>
        </p:grpSpPr>
        <p:sp>
          <p:nvSpPr>
            <p:cNvPr id="113" name="Google Shape;103;p14_r2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Why it's new: India's first call-state + UPI-tripwire + evidence fusion</a:t>
              </a:r>
              <a:endParaRPr dirty="0"/>
            </a:p>
          </p:txBody>
        </p:sp>
        <p:pic>
          <p:nvPicPr>
            <p:cNvPr id="114" name="Google Shape;108;p14_r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7" name="Google Shape;84;p13_r1_r25_r1_r25_r1_r28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98;p14_r2_r26_r2_r26_r2_r29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_r3_r27_r3_r27_r3_r30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_r4_r4_r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BENCHMARK THEY CAN'T MEET -</a:t>
              </a:r>
              <a:endParaRPr dirty="0"/>
            </a:p>
            <a:p>
              <a:r>
                <a:rPr>
                  <a:solidFill>
                    <a:srgbClr val="FFFFFF"/>
                  </a:solidFill>
                </a:rPr>
                <a:t>INDIAN SCAM SPEECH</a:t>
              </a:r>
            </a:p>
          </p:txBody>
        </p:sp>
        <p:pic>
          <p:nvPicPr>
            <p:cNvPr id="105" name="Google Shape;105;p14_r5_r5_r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roup 3_r6_r28_r6_r28_r6_r31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_r7_r7_r7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Truecaller's '&lt;1s' = pickup latency, NOT fraud detection</a:t>
              </a:r>
              <a:endParaRPr dirty="0"/>
            </a:p>
          </p:txBody>
        </p:sp>
        <p:pic>
          <p:nvPicPr>
            <p:cNvPr id="106" name="Google Shape;106;p14_r8_r8_r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" name="Group 4_r9_r29_r9_r29_r9_r32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_r10_r10_r10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Generic models: 36.47–63.70% EER on real fraud calls - near useless</a:t>
              </a:r>
              <a:endParaRPr dirty="0"/>
            </a:p>
          </p:txBody>
        </p:sp>
        <p:pic>
          <p:nvPicPr>
            <p:cNvPr id="107" name="Google Shape;107;p14_r11_r11_r1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Group 5_r12_r30_r12_r30_r12_r33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_r13_r13_r1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Incident-trained model: 4.18% EER - our approach is 9× better</a:t>
              </a:r>
              <a:endParaRPr dirty="0"/>
            </a:p>
          </p:txBody>
        </p:sp>
        <p:pic>
          <p:nvPicPr>
            <p:cNvPr id="108" name="Google Shape;108;p14_r14_r14_r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09;p14_r15_r31_r15_r31_r15_r3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dirty="0"/>
          </a:p>
        </p:txBody>
      </p:sp>
      <p:sp>
        <p:nvSpPr>
          <p:cNvPr id="122" name="Google Shape;110;p14_r16_r32_r16_r32_r16_r3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11;p14_r17_r33_r17_r33_r17_r36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04</a:t>
            </a:r>
          </a:p>
        </p:txBody>
      </p:sp>
      <p:pic>
        <p:nvPicPr>
          <p:cNvPr id="32" name="Picture 6_r18_r34_r18_r34_r18_r37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grpSp>
        <p:nvGrpSpPr>
          <p:cNvPr id="33" name="Group 5_r19_r35_r19_r35_r19_r38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842353"/>
            <a:ext cx="5238750" cy="314325"/>
            <a:chOff x="571500" y="4762500"/>
            <a:chExt cx="5238750" cy="314325"/>
          </a:xfrm>
        </p:grpSpPr>
        <p:sp>
          <p:nvSpPr>
            <p:cNvPr id="104" name="Google Shape;103;p14_r20_r20_r20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Hindi-telephony anti-spoof benchmark: doesn't exist - no one follows us</a:t>
              </a:r>
              <a:endParaRPr dirty="0"/>
            </a:p>
          </p:txBody>
        </p:sp>
        <p:pic>
          <p:nvPicPr>
            <p:cNvPr id="112" name="Google Shape;108;p14_r21_r21_r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roup 5_r22_r36_r22_r36_r22_r39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5390993"/>
            <a:ext cx="5238750" cy="314325"/>
            <a:chOff x="571500" y="4762500"/>
            <a:chExt cx="5238750" cy="314325"/>
          </a:xfrm>
        </p:grpSpPr>
        <p:sp>
          <p:nvSpPr>
            <p:cNvPr id="113" name="Google Shape;103;p14_r23_r23_r2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 India app ships UPI-tripwire + call-state fusion (verified white space)</a:t>
              </a:r>
              <a:endParaRPr dirty="0"/>
            </a:p>
          </p:txBody>
        </p:sp>
        <p:pic>
          <p:nvPicPr>
            <p:cNvPr id="114" name="Google Shape;108;p14_r24_r24_r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" name="Group 5_r22_r36_r22_r36_r25_r40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5939633"/>
            <a:ext cx="5238750" cy="314325"/>
            <a:chOff x="571500" y="4762500"/>
            <a:chExt cx="5238750" cy="314325"/>
          </a:xfrm>
        </p:grpSpPr>
        <p:sp>
          <p:nvSpPr>
            <p:cNvPr id="115" name="Google Shape;103;p14_r23_r23_r26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Pindrop / Hiya: enterprise-only, English - can't read Hindi scams</a:t>
              </a:r>
              <a:endParaRPr dirty="0"/>
            </a:p>
          </p:txBody>
        </p:sp>
        <p:pic>
          <p:nvPicPr>
            <p:cNvPr id="116" name="Google Shape;108;p14_r24_r24_r2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 · PyTorch · AASIST · faster-whisper (Hindi)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Coercion lexicon · sha256 evidence packets</a:t>
            </a:r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Flow: audio → anti-spoof → coercion → verdict → PAUSE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→ evidence → 1930 report</a:t>
            </a: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Trained + verified on GTX 1650 laptop GPU -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4GB RAM class, no cloud needed</a:t>
            </a: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Consumer apps can't tap call audio -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architecture tiers L0–L4 + CPaaS</a:t>
            </a: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Payment-tripwire (Play-sanctioned) · OEM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recorder import · CPaaS 2nd number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Seconds-to-intervention vs minutes-to-loss -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the ₹4,057.7cr runway is the market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Social: elders stay independent; families connected</a:t>
            </a:r>
            <a:endParaRPr dirty="0"/>
          </a:p>
          <a:p>
            <a:r>
              <a:rPr>
                <a:solidFill>
                  <a:srgbClr val="FFFFFF"/>
                </a:solidFill>
              </a:rPr>
              <a:t>Economic: feeds ₹7,130cr-saved reporting rails</a:t>
            </a:r>
          </a:p>
          <a:p>
            <a:r>
              <a:rPr>
                <a:solidFill>
                  <a:srgbClr val="FFFFFF"/>
                </a:solidFill>
              </a:rPr>
              <a:t>National: digital-sovereignty, DPDP-compliant</a:t>
            </a: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07</a:t>
            </a: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4;p13_r1_r19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0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2_r3_r21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_r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 AASIST-hindi engine: spoof score + coercion state</a:t>
              </a:r>
              <a:endParaRPr dirty="0"/>
            </a:p>
          </p:txBody>
        </p:sp>
        <p:pic>
          <p:nvPicPr>
            <p:cNvPr id="105" name="Google Shape;105;p14_r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roup 3_r6_r22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_r7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PAUSE intervention UI + family challenge (B3) - the moat</a:t>
              </a:r>
              <a:endParaRPr dirty="0"/>
            </a:p>
          </p:txBody>
        </p:sp>
        <p:pic>
          <p:nvPicPr>
            <p:cNvPr id="106" name="Google Shape;106;p14_r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4_r9_r23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_r10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Tamper-evident evidence packet + 1930-ready PDF (sha256)</a:t>
              </a:r>
              <a:endParaRPr dirty="0"/>
            </a:p>
          </p:txBody>
        </p:sp>
        <p:pic>
          <p:nvPicPr>
            <p:cNvPr id="107" name="Google Shape;107;p14_r1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5_r12_r24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_r13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Demo video (3 min) + GitHub public repo (link)</a:t>
              </a:r>
              <a:endParaRPr dirty="0"/>
            </a:p>
          </p:txBody>
        </p:sp>
        <p:pic>
          <p:nvPicPr>
            <p:cNvPr id="108" name="Google Shape;108;p14_r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09;p14_r15_r2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PROTOTYPE - LIVE DEMO</a:t>
            </a:r>
            <a:endParaRPr dirty="0"/>
          </a:p>
        </p:txBody>
      </p:sp>
      <p:sp>
        <p:nvSpPr>
          <p:cNvPr id="113" name="Google Shape;110;p14_r16_r2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1;p14_r17_r27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08</a:t>
            </a:r>
          </a:p>
        </p:txBody>
      </p:sp>
      <p:pic>
        <p:nvPicPr>
          <p:cNvPr id="13" name="Picture 6_r18_r28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805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1. RBI/2024-25/105 · 2. CERT-In CIAD-2024-0060 · 3. ASVspoof 2021 LA · 4. AASIST (clovaai) · 5. UPI fraud ₹805 cr (FPJ) · 6. Hyderabad ₹1.97L (Indian Express)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14400" y="17373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1. RBI/2024-25/105 - voice/SMS fraud safeguards (Jan 2025) - rbi.org.in</a:t>
            </a:r>
          </a:p>
          <a:p>
            <a:r>
              <a:rPr sz="1400">
                <a:solidFill>
                  <a:srgbClr val="FFFFFF"/>
                </a:solidFill>
              </a:rPr>
              <a:t>2. RBI Auth Directions 2025 - 2FA mandatory Apr 2026 - rbi.org.in</a:t>
            </a:r>
          </a:p>
          <a:p>
            <a:r>
              <a:rPr sz="1400">
                <a:solidFill>
                  <a:srgbClr val="FFFFFF"/>
                </a:solidFill>
              </a:rPr>
              <a:t>3. CERT-In CIAD-2024-0060 - Deepfakes: threats &amp; countermeasures - cert-in.org.in</a:t>
            </a:r>
          </a:p>
          <a:p>
            <a:r>
              <a:rPr sz="1400">
                <a:solidFill>
                  <a:srgbClr val="FFFFFF"/>
                </a:solidFill>
              </a:rPr>
              <a:t>4. DoT FRI: 1000+ banks · ₹660 crore prevented (Dec 2025) - pib.gov.in</a:t>
            </a:r>
          </a:p>
          <a:p>
            <a:r>
              <a:rPr sz="1400">
                <a:solidFill>
                  <a:srgbClr val="FFFFFF"/>
                </a:solidFill>
              </a:rPr>
              <a:t>5. ASVspoof 2021 LA + NASK real-fraud benchmark (WACV 2026) - zenodo.org</a:t>
            </a:r>
          </a:p>
          <a:p>
            <a:r>
              <a:rPr sz="1400">
                <a:solidFill>
                  <a:srgbClr val="FFFFFF"/>
                </a:solidFill>
              </a:rPr>
              <a:t>6. AASIST / faster-whisper - github.com/clovaai · openai.com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Team: Harsh Gounder (Team Lead), Ayush Kharwar, Sujal Shukla · GenAI used for ideation/support only. Model training, evaluation and this submission's technical claims are our own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