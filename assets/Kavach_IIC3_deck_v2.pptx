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63" r:id="rId26"/>
    <p:sldId id="257" r:id="rId3"/>
    <p:sldId id="266" r:id="rId8"/>
    <p:sldId id="258" r:id="rId4"/>
    <p:sldId id="259" r:id="rId5"/>
    <p:sldId id="260" r:id="rId6"/>
    <p:sldId id="264" r:id="rId27"/>
    <p:sldId id="261" r:id="rId7"/>
  </p:sldIdLst>
  <p:sldSz cx="12192000" cy="6858000"/>
  <p:notesSz cx="6858000" cy="9144000"/>
  <p:embeddedFontLst>
    <p:embeddedFont>
      <p:font typeface="Playfair Display" pitchFamily="2" charset="77"/>
      <p:regular r:id="rId10"/>
      <p:bold r:id="rId11"/>
      <p:italic r:id="rId12"/>
      <p:boldItalic r:id="rId13"/>
    </p:embeddedFont>
    <p:embeddedFont>
      <p:font typeface="Poppins" pitchFamily="2" charset="77"/>
      <p:regular r:id="rId14"/>
      <p:bold r:id="rId15"/>
      <p:italic r:id="rId16"/>
      <p:boldItalic r:id="rId17"/>
    </p:embeddedFont>
    <p:embeddedFont>
      <p:font typeface="Poppins Light" panose="00000400000000000000" pitchFamily="2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67"/>
  </p:normalViewPr>
  <p:slideViewPr>
    <p:cSldViewPr snapToGrid="0">
      <p:cViewPr varScale="1">
        <p:scale>
          <a:sx n="110" d="100"/>
          <a:sy n="110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10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font" Target="fonts/font11.fntdata"/><Relationship Id="rId21" Type="http://schemas.openxmlformats.org/officeDocument/2006/relationships/font" Target="fonts/font12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Relationship Id="rId2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1" name="Google Shape;16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00175" y="414337"/>
            <a:ext cx="9391650" cy="602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185511" y="1533525"/>
            <a:ext cx="7820977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INTERNATIONAL INNOVATION </a:t>
            </a:r>
            <a:r>
              <a:rPr lang="en-US" sz="4800" b="1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 </a:t>
            </a:r>
            <a:r>
              <a:rPr lang="en-US" sz="4800" b="1" dirty="0">
                <a:solidFill>
                  <a:srgbClr val="F2EEFA"/>
                </a:solidFill>
                <a:latin typeface="Times New Roman" panose="02020603050405020304" pitchFamily="18" charset="0"/>
                <a:ea typeface="Playfair Display"/>
                <a:cs typeface="Times New Roman" panose="02020603050405020304" pitchFamily="18" charset="0"/>
                <a:sym typeface="Playfair Display"/>
              </a:rPr>
              <a:t>3.0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4471987" y="40052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Theme: Cybersecurity &amp; Digital Sovereignty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471987" y="4557712"/>
            <a:ext cx="77724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Kavach — India's First Anti-Digital-Arrest Shield</a:t>
            </a:r>
            <a:endParaRPr dirty="0"/>
          </a:p>
          <a:p>
            <a:r>
              <a:rPr sz="1800" b="1">
                <a:solidFill>
                  <a:srgbClr val="FFFFFF"/>
                </a:solidFill>
              </a:rPr>
              <a:t>Recognize → Interrupt → Verify → Package → Report</a:t>
            </a:r>
          </a:p>
        </p:txBody>
      </p:sp>
      <p:sp>
        <p:nvSpPr>
          <p:cNvPr id="89" name="Google Shape;89;p13"/>
          <p:cNvSpPr txBox="1"/>
          <p:nvPr/>
        </p:nvSpPr>
        <p:spPr>
          <a:xfrm>
            <a:off x="4471987" y="5110162"/>
            <a:ext cx="36766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Team Name: {{TEAM_NAME}}</a:t>
            </a:r>
            <a:endParaRPr dirty="0"/>
          </a:p>
        </p:txBody>
      </p:sp>
      <p:pic>
        <p:nvPicPr>
          <p:cNvPr id="90" name="Google Shape;90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43362" y="40338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43362" y="4586287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043362" y="5138737"/>
            <a:ext cx="2857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E7922C-D65A-4A22-8F20-6A8FB0158D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2323" y="588918"/>
            <a:ext cx="2844187" cy="8731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3A44B1-CD48-B725-0E2D-7F4DFB4556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713" y="588918"/>
            <a:ext cx="1877963" cy="972367"/>
          </a:xfrm>
          <a:prstGeom prst="rect">
            <a:avLst/>
          </a:prstGeom>
        </p:spPr>
      </p:pic>
      <p:sp>
        <p:nvSpPr>
          <p:cNvPr id="7" name="Google Shape;111;p14">
            <a:extLst>
              <a:ext uri="{FF2B5EF4-FFF2-40B4-BE49-F238E27FC236}">
                <a16:creationId xmlns:a16="http://schemas.microsoft.com/office/drawing/2014/main" id="{B0B7FDCA-5857-D492-02A9-B3CA0036752A}"/>
              </a:ext>
            </a:extLst>
          </p:cNvPr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84;p13_r1_r25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6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roup 2_r3_r27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_r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DIGITAL ARREST IS INDIA'S FASTEST-GROWING FRAUD —</a:t>
              </a:r>
              <a:endParaRPr dirty="0"/>
            </a:p>
            <a:p>
              <a:r>
                <a:rPr>
                  <a:solidFill>
                    <a:srgbClr val="FFFFFF"/>
                  </a:solidFill>
                </a:rPr>
                <a:t>AND ELDERS ARE THE TARGET</a:t>
              </a:r>
            </a:p>
          </p:txBody>
        </p:sp>
        <p:pic>
          <p:nvPicPr>
            <p:cNvPr id="105" name="Google Shape;105;p14_r5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roup 3_r6_r28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_r7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₹4,057.7 crore lost · 297,727 complaints (2022–May 2026)</a:t>
              </a:r>
              <a:endParaRPr dirty="0"/>
            </a:p>
          </p:txBody>
        </p:sp>
        <p:pic>
          <p:nvPicPr>
            <p:cNvPr id="106" name="Google Shape;106;p14_r8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oup 4_r9_r29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_r10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Fake 'CBI / TRAI / ED' calls: victim isolated, coerced to pay</a:t>
              </a:r>
              <a:endParaRPr dirty="0"/>
            </a:p>
          </p:txBody>
        </p:sp>
        <p:pic>
          <p:nvPicPr>
            <p:cNvPr id="107" name="Google Shape;107;p14_r1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" name="Group 5_r12_r30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_r1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Elders = primary targets — fear + obedience exploited</a:t>
              </a:r>
              <a:endParaRPr dirty="0"/>
            </a:p>
          </p:txBody>
        </p:sp>
        <p:pic>
          <p:nvPicPr>
            <p:cNvPr id="108" name="Google Shape;108;p14_r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09;p14_r15_r31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PROBLEM STATEMENT</a:t>
            </a:r>
            <a:endParaRPr dirty="0"/>
          </a:p>
        </p:txBody>
      </p:sp>
      <p:sp>
        <p:nvSpPr>
          <p:cNvPr id="116" name="Google Shape;110;p14_r16_r32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1;p14_r17_r33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02</a:t>
            </a:r>
          </a:p>
        </p:txBody>
      </p:sp>
      <p:pic>
        <p:nvPicPr>
          <p:cNvPr id="15" name="Picture 6_r18_r34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grpSp>
        <p:nvGrpSpPr>
          <p:cNvPr id="16" name="Group 5_r19_r3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842353"/>
            <a:ext cx="5238750" cy="314325"/>
            <a:chOff x="571500" y="4762500"/>
            <a:chExt cx="5238750" cy="314325"/>
          </a:xfrm>
        </p:grpSpPr>
        <p:sp>
          <p:nvSpPr>
            <p:cNvPr id="104" name="Google Shape;103;p14_r20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Losses grew 20× by 2024; every bank warns, no defense exists</a:t>
              </a:r>
              <a:endParaRPr dirty="0"/>
            </a:p>
          </p:txBody>
        </p:sp>
        <p:pic>
          <p:nvPicPr>
            <p:cNvPr id="112" name="Google Shape;108;p14_r2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roup 5_r22_r36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5390993"/>
            <a:ext cx="5238750" cy="314325"/>
            <a:chOff x="571500" y="4762500"/>
            <a:chExt cx="5238750" cy="314325"/>
          </a:xfrm>
        </p:grpSpPr>
        <p:sp>
          <p:nvSpPr>
            <p:cNvPr id="113" name="Google Shape;103;p14_r2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Fraud completes at ONE moment: the UPI payment — unguarded</a:t>
              </a:r>
              <a:endParaRPr dirty="0"/>
            </a:p>
          </p:txBody>
        </p:sp>
        <p:pic>
          <p:nvPicPr>
            <p:cNvPr id="114" name="Google Shape;108;p14_r2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84;p13_r1_r25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6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roup 2_r3_r27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_r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PROPOSED SOLUTION</a:t>
              </a:r>
              <a:endParaRPr dirty="0"/>
            </a:p>
          </p:txBody>
        </p:sp>
        <p:pic>
          <p:nvPicPr>
            <p:cNvPr id="105" name="Google Shape;105;p14_r5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roup 3_r6_r28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_r7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On-call AI flags scam language + pressure (Hindi first)</a:t>
              </a:r>
              <a:endParaRPr dirty="0"/>
            </a:p>
          </p:txBody>
        </p:sp>
        <p:pic>
          <p:nvPicPr>
            <p:cNvPr id="106" name="Google Shape;106;p14_r8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oup 4_r9_r29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_r10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PAUSE at the payment moment: warn + family confirmation before PIN</a:t>
              </a:r>
              <a:endParaRPr dirty="0"/>
            </a:p>
          </p:txBody>
        </p:sp>
        <p:pic>
          <p:nvPicPr>
            <p:cNvPr id="107" name="Google Shape;107;p14_r1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" name="Group 5_r12_r30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_r1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One-tap verified report to 1930 / Chakshu, tamper-proof evidence</a:t>
              </a:r>
              <a:endParaRPr dirty="0"/>
            </a:p>
          </p:txBody>
        </p:sp>
        <p:pic>
          <p:nvPicPr>
            <p:cNvPr id="108" name="Google Shape;108;p14_r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09;p14_r15_r31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KAVACH — RECOGNIZE → INTERRUPT →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VERIFY → PACKAGE → REPORT</a:t>
            </a:r>
          </a:p>
        </p:txBody>
      </p:sp>
      <p:sp>
        <p:nvSpPr>
          <p:cNvPr id="116" name="Google Shape;110;p14_r16_r32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1;p14_r17_r33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03</a:t>
            </a:r>
          </a:p>
        </p:txBody>
      </p:sp>
      <p:pic>
        <p:nvPicPr>
          <p:cNvPr id="15" name="Picture 6_r18_r34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grpSp>
        <p:nvGrpSpPr>
          <p:cNvPr id="16" name="Group 5_r19_r35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842353"/>
            <a:ext cx="5238750" cy="314325"/>
            <a:chOff x="571500" y="4762500"/>
            <a:chExt cx="5238750" cy="314325"/>
          </a:xfrm>
        </p:grpSpPr>
        <p:sp>
          <p:nvSpPr>
            <p:cNvPr id="104" name="Google Shape;103;p14_r20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How it solves: owns the seconds between 'scam' and 'money moved'</a:t>
              </a:r>
              <a:endParaRPr dirty="0"/>
            </a:p>
          </p:txBody>
        </p:sp>
        <p:pic>
          <p:nvPicPr>
            <p:cNvPr id="112" name="Google Shape;108;p14_r2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roup 5_r22_r36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5390993"/>
            <a:ext cx="5238750" cy="314325"/>
            <a:chOff x="571500" y="4762500"/>
            <a:chExt cx="5238750" cy="314325"/>
          </a:xfrm>
        </p:grpSpPr>
        <p:sp>
          <p:nvSpPr>
            <p:cNvPr id="113" name="Google Shape;103;p14_r2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Why it's new: India's first call-state + UPI-tripwire + evidence fusion</a:t>
              </a:r>
              <a:endParaRPr dirty="0"/>
            </a:p>
          </p:txBody>
        </p:sp>
        <p:pic>
          <p:nvPicPr>
            <p:cNvPr id="114" name="Google Shape;108;p14_r2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B18FF61-1857-DD5F-D4B4-32B1030BFE8C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1AED31AE-ABCF-23A6-5C8B-83D0AC31EAE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1F32D93C-7343-8AF4-F453-702DCD511F7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086100"/>
            <a:ext cx="5238750" cy="19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85058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Technologies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96202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Python · PyTorch · AASIST · faster-whisper (Hindi)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Coercion lexicon · sha256 evidence packets</a:t>
            </a:r>
          </a:p>
        </p:txBody>
      </p:sp>
      <p:sp>
        <p:nvSpPr>
          <p:cNvPr id="121" name="Google Shape;121;p15"/>
          <p:cNvSpPr txBox="1"/>
          <p:nvPr/>
        </p:nvSpPr>
        <p:spPr>
          <a:xfrm>
            <a:off x="6660832" y="3476625"/>
            <a:ext cx="468058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Methodology</a:t>
            </a:r>
            <a:endParaRPr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6772275" y="4019550"/>
            <a:ext cx="44577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Flow: audio → anti-spoof → coercion → verdict → PAUSE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→ evidence → 1930 report</a:t>
            </a:r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TECHNICAL APPROACH</a:t>
            </a:r>
            <a:endParaRPr dirty="0"/>
          </a:p>
        </p:txBody>
      </p:sp>
      <p:sp>
        <p:nvSpPr>
          <p:cNvPr id="124" name="Google Shape;124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E2B5A-0D8D-0AB1-E15B-5102336B7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D9BBD4A-0CA1-32F3-26D6-3379A9124AC1}"/>
              </a:ext>
            </a:extLst>
          </p:cNvPr>
          <p:cNvGrpSpPr/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2" name="Google Shape;84;p13" descr="image.png">
              <a:extLst>
                <a:ext uri="{FF2B5EF4-FFF2-40B4-BE49-F238E27FC236}">
                  <a16:creationId xmlns:a16="http://schemas.microsoft.com/office/drawing/2014/main" id="{E85BF679-52A2-A2B8-04BF-1A2CCF31193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98;p14" descr="image.png">
              <a:extLst>
                <a:ext uri="{FF2B5EF4-FFF2-40B4-BE49-F238E27FC236}">
                  <a16:creationId xmlns:a16="http://schemas.microsoft.com/office/drawing/2014/main" id="{6A9C8AA2-5CCF-3436-C5FD-C0ADC42FFDE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847975"/>
            <a:ext cx="34290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1720929" y="3810000"/>
            <a:ext cx="113014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86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Trained + verified on GTX 1650 laptop GPU —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4GB RAM class, no cloud needed</a:t>
            </a:r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500" y="323850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490924" y="3810000"/>
            <a:ext cx="1210151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Challenges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4776787" y="4257675"/>
            <a:ext cx="26384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Consumer apps can't tap call audio —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architecture tiers L0–L4 + CPaaS</a:t>
            </a:r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39312" y="3238500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9360931" y="3810000"/>
            <a:ext cx="109013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BE69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Strategies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8486775" y="4257675"/>
            <a:ext cx="2838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2EEFA"/>
                </a:solidFill>
                <a:latin typeface="Poppins Light"/>
                <a:ea typeface="Poppins Light"/>
                <a:cs typeface="Poppins Light"/>
                <a:sym typeface="Poppins Light"/>
              </a:rPr>
              <a:t>Payment-tripwire (Play-sanctioned) · OEM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recorder import · CPaaS 2nd number</a:t>
            </a:r>
          </a:p>
        </p:txBody>
      </p:sp>
      <p:sp>
        <p:nvSpPr>
          <p:cNvPr id="143" name="Google Shape;143;p16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FEASIBILITY AND VIABILITY</a:t>
            </a:r>
            <a:endParaRPr dirty="0"/>
          </a:p>
        </p:txBody>
      </p:sp>
      <p:sp>
        <p:nvSpPr>
          <p:cNvPr id="144" name="Google Shape;144;p1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11687175" y="6467475"/>
            <a:ext cx="2190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539AD2-9821-3F8D-A3D6-35A48800DB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82BC47-C1E8-211A-F7F3-99B987C7EA8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C50263B4-4851-C499-7453-724CE8EF500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ED84BD7-0591-5A0E-6A51-006CBA369A9B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7"/>
          <p:cNvSpPr txBox="1"/>
          <p:nvPr/>
        </p:nvSpPr>
        <p:spPr>
          <a:xfrm>
            <a:off x="1000125" y="1683172"/>
            <a:ext cx="46196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Seconds-to-intervention vs minutes-to-loss —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the ₹4,057.7cr runway is the market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957415" y="2197585"/>
            <a:ext cx="8865235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Social: elders stay independent; families connected</a:t>
            </a:r>
            <a:endParaRPr dirty="0"/>
          </a:p>
          <a:p>
            <a:r>
              <a:rPr>
                <a:solidFill>
                  <a:srgbClr val="FFFFFF"/>
                </a:solidFill>
              </a:rPr>
              <a:t>Economic: feeds ₹7,130cr-saved reporting rails</a:t>
            </a:r>
          </a:p>
          <a:p>
            <a:r>
              <a:rPr>
                <a:solidFill>
                  <a:srgbClr val="FFFFFF"/>
                </a:solidFill>
              </a:rPr>
              <a:t>National: digital-sovereignty, DPDP-compliant</a:t>
            </a:r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71174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264197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1180147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07</a:t>
            </a:r>
          </a:p>
        </p:txBody>
      </p:sp>
      <p:sp>
        <p:nvSpPr>
          <p:cNvPr id="5" name="Google Shape;143;p16">
            <a:extLst>
              <a:ext uri="{FF2B5EF4-FFF2-40B4-BE49-F238E27FC236}">
                <a16:creationId xmlns:a16="http://schemas.microsoft.com/office/drawing/2014/main" id="{3CAF39FC-C49D-1484-968C-D8CC6B6281EE}"/>
              </a:ext>
            </a:extLst>
          </p:cNvPr>
          <p:cNvSpPr txBox="1"/>
          <p:nvPr/>
        </p:nvSpPr>
        <p:spPr>
          <a:xfrm>
            <a:off x="571500" y="571500"/>
            <a:ext cx="1160145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IMPACT AND BENEFITS</a:t>
            </a:r>
            <a:endParaRPr dirty="0"/>
          </a:p>
        </p:txBody>
      </p:sp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FDB0C6B6-D604-F5FA-8C1F-20E675C8EE7E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EAE13-7287-2B9A-1824-778F4241D5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_r1_r19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8;p14_r2_r20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2_r3_r21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_r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Real AASIST-hindi engine: spoof score + coercion state</a:t>
              </a:r>
              <a:endParaRPr dirty="0"/>
            </a:p>
          </p:txBody>
        </p:sp>
        <p:pic>
          <p:nvPicPr>
            <p:cNvPr id="105" name="Google Shape;105;p14_r5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" name="Group 3_r6_r22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_r7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PAUSE intervention UI + family challenge (B3) — the moat</a:t>
              </a:r>
              <a:endParaRPr dirty="0"/>
            </a:p>
          </p:txBody>
        </p:sp>
        <p:pic>
          <p:nvPicPr>
            <p:cNvPr id="106" name="Google Shape;106;p14_r8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" name="Group 4_r9_r23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_r10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Tamper-evident evidence packet + 1930-ready PDF (sha256)</a:t>
              </a:r>
              <a:endParaRPr dirty="0"/>
            </a:p>
          </p:txBody>
        </p:sp>
        <p:pic>
          <p:nvPicPr>
            <p:cNvPr id="107" name="Google Shape;107;p14_r1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roup 5_r12_r24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_r1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Demo video (3 min) + GitHub public repo (link)</a:t>
              </a:r>
              <a:endParaRPr dirty="0"/>
            </a:p>
          </p:txBody>
        </p:sp>
        <p:pic>
          <p:nvPicPr>
            <p:cNvPr id="108" name="Google Shape;108;p14_r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2" name="Google Shape;109;p14_r15_r25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WORKING PROTOTYPE — LIVE DEMO</a:t>
            </a:r>
            <a:endParaRPr dirty="0"/>
          </a:p>
        </p:txBody>
      </p:sp>
      <p:sp>
        <p:nvSpPr>
          <p:cNvPr id="113" name="Google Shape;110;p14_r16_r26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1;p14_r17_r27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08</a:t>
            </a:r>
          </a:p>
        </p:txBody>
      </p:sp>
      <p:pic>
        <p:nvPicPr>
          <p:cNvPr id="13" name="Picture 6_r18_r28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C816A02-64BD-FBFB-2E8F-FE68591AE81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32734" y="-74663"/>
            <a:ext cx="12457469" cy="7007326"/>
            <a:chOff x="-157315" y="-88489"/>
            <a:chExt cx="12457469" cy="7007326"/>
          </a:xfrm>
        </p:grpSpPr>
        <p:pic>
          <p:nvPicPr>
            <p:cNvPr id="3" name="Google Shape;84;p13" descr="image.png">
              <a:extLst>
                <a:ext uri="{FF2B5EF4-FFF2-40B4-BE49-F238E27FC236}">
                  <a16:creationId xmlns:a16="http://schemas.microsoft.com/office/drawing/2014/main" id="{0FC4E61E-2819-88A1-4D2E-25F6C534E60D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57315" y="-88489"/>
              <a:ext cx="12457469" cy="70073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" name="Google Shape;98;p14" descr="image.png">
              <a:extLst>
                <a:ext uri="{FF2B5EF4-FFF2-40B4-BE49-F238E27FC236}">
                  <a16:creationId xmlns:a16="http://schemas.microsoft.com/office/drawing/2014/main" id="{062BE52A-6744-24D5-7827-BF7ABFAE66D8}"/>
                </a:ext>
              </a:extLst>
            </p:cNvPr>
            <p:cNvPicPr preferRelativeResize="0">
              <a:picLocks noGrp="1" noRot="1" noMove="1" noResize="1" noEditPoints="1" noAdjustHandles="1" noChangeArrowheads="1" noChangeShapeType="1" noCrop="1"/>
            </p:cNvPicPr>
            <p:nvPr/>
          </p:nvPicPr>
          <p:blipFill rotWithShape="1">
            <a:blip r:embed="rId4">
              <a:alphaModFix amt="5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6" name="Google Shape;166;p18"/>
          <p:cNvSpPr txBox="1"/>
          <p:nvPr/>
        </p:nvSpPr>
        <p:spPr>
          <a:xfrm>
            <a:off x="571500" y="682747"/>
            <a:ext cx="929116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3600" b="1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</a:defRPr>
            </a:lvl1pPr>
          </a:lstStyle>
          <a:p>
            <a:r>
              <a:rPr lang="en-US" dirty="0">
                <a:sym typeface="Playfair Display"/>
              </a:rPr>
              <a:t>RESEARCH AND REFERENCES</a:t>
            </a:r>
            <a:endParaRPr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E1C9CA6-2431-0A69-98BB-5E30EED6A492}"/>
              </a:ext>
            </a:extLst>
          </p:cNvPr>
          <p:cNvGrpSpPr/>
          <p:nvPr/>
        </p:nvGrpSpPr>
        <p:grpSpPr>
          <a:xfrm>
            <a:off x="2306177" y="3813418"/>
            <a:ext cx="8058150" cy="375455"/>
            <a:chOff x="2168525" y="4214995"/>
            <a:chExt cx="8058150" cy="375455"/>
          </a:xfrm>
        </p:grpSpPr>
        <p:sp>
          <p:nvSpPr>
            <p:cNvPr id="168" name="Google Shape;168;p18"/>
            <p:cNvSpPr txBox="1"/>
            <p:nvPr/>
          </p:nvSpPr>
          <p:spPr>
            <a:xfrm>
              <a:off x="2168525" y="4214995"/>
              <a:ext cx="8058150" cy="3656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8625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0" i="0" u="none" strike="noStrike" cap="none" dirty="0">
                  <a:solidFill>
                    <a:srgbClr val="F2EEFA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1. RBI/2024-25/105 · 2. CERT-In CIAD-2024-0060 · 3. ASVspoof 2021 LA · 4. AASIST (clovaai) · 5. UPI fraud ₹805 cr (FPJ) · 6. Hyderabad ₹1.97L (Indian Express)</a:t>
              </a:r>
              <a:endParaRPr dirty="0"/>
            </a:p>
          </p:txBody>
        </p:sp>
        <p:pic>
          <p:nvPicPr>
            <p:cNvPr id="169" name="Google Shape;169;p18" descr="image.png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169920" y="4361850"/>
              <a:ext cx="285750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" name="Google Shape;170;p18"/>
          <p:cNvSpPr txBox="1"/>
          <p:nvPr/>
        </p:nvSpPr>
        <p:spPr>
          <a:xfrm>
            <a:off x="11696700" y="6467475"/>
            <a:ext cx="2095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84B2B-35C3-CD70-ED94-211E6AF95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919" y="141850"/>
            <a:ext cx="2259114" cy="1169718"/>
          </a:xfrm>
          <a:prstGeom prst="rect">
            <a:avLst/>
          </a:prstGeom>
        </p:spPr>
      </p:pic>
      <p:sp>
        <p:nvSpPr>
          <p:cNvPr id="6" name="Google Shape;144;p16">
            <a:extLst>
              <a:ext uri="{FF2B5EF4-FFF2-40B4-BE49-F238E27FC236}">
                <a16:creationId xmlns:a16="http://schemas.microsoft.com/office/drawing/2014/main" id="{D7515F0B-1E18-86AF-90B0-D093B0E72B20}"/>
              </a:ext>
            </a:extLst>
          </p:cNvPr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914400" y="17373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1. RBI/2024-25/105 — voice/SMS fraud safeguards (Jan 2025) — rbi.org.in</a:t>
            </a:r>
          </a:p>
          <a:p>
            <a:r>
              <a:rPr sz="1400">
                <a:solidFill>
                  <a:srgbClr val="FFFFFF"/>
                </a:solidFill>
              </a:rPr>
              <a:t>2. RBI Auth Directions 2025 — 2FA mandatory Apr 2026 — rbi.org.in</a:t>
            </a:r>
          </a:p>
          <a:p>
            <a:r>
              <a:rPr sz="1400">
                <a:solidFill>
                  <a:srgbClr val="FFFFFF"/>
                </a:solidFill>
              </a:rPr>
              <a:t>3. CERT-In CIAD-2024-0060 — Deepfakes: threats &amp; countermeasures — cert-in.org.in</a:t>
            </a:r>
          </a:p>
          <a:p>
            <a:r>
              <a:rPr sz="1400">
                <a:solidFill>
                  <a:srgbClr val="FFFFFF"/>
                </a:solidFill>
              </a:rPr>
              <a:t>4. DoT FRI: 1000+ banks · ₹660 crore prevented (Dec 2025) — pib.gov.in</a:t>
            </a:r>
          </a:p>
          <a:p>
            <a:r>
              <a:rPr sz="1400">
                <a:solidFill>
                  <a:srgbClr val="FFFFFF"/>
                </a:solidFill>
              </a:rPr>
              <a:t>5. ASVspoof 2021 LA + NASK real-fraud benchmark (WACV 2026) — zenodo.org</a:t>
            </a:r>
          </a:p>
          <a:p>
            <a:r>
              <a:rPr sz="1400">
                <a:solidFill>
                  <a:srgbClr val="FFFFFF"/>
                </a:solidFill>
              </a:rPr>
              <a:t>6. AASIST / faster-whisper — github.com/clovaai · openai.com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Team: {{TEAM_NAMES}} · GenAI used for ideation/support only. Model training, evaluation and this submission's technical claims are our own 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7" name="Google Shape;84;p13_r1_r25_r1_r25_r1_r28" descr="image.png">
            <a:extLst>
              <a:ext uri="{FF2B5EF4-FFF2-40B4-BE49-F238E27FC236}">
                <a16:creationId xmlns:a16="http://schemas.microsoft.com/office/drawing/2014/main" id="{A7427FBB-6B82-28C2-C807-6A3DF49A1F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57315" y="-88489"/>
            <a:ext cx="12457469" cy="700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98;p14_r2_r26_r2_r26_r2_r29" descr="image.png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" name="Group 2_r3_r27_r3_r27_r3_r30">
            <a:extLst>
              <a:ext uri="{FF2B5EF4-FFF2-40B4-BE49-F238E27FC236}">
                <a16:creationId xmlns:a16="http://schemas.microsoft.com/office/drawing/2014/main" id="{A73E524B-A1B2-0008-AF1C-66E70946F0B4}"/>
              </a:ext>
            </a:extLst>
          </p:cNvPr>
          <p:cNvGrpSpPr/>
          <p:nvPr/>
        </p:nvGrpSpPr>
        <p:grpSpPr>
          <a:xfrm>
            <a:off x="571500" y="2658491"/>
            <a:ext cx="10977715" cy="380873"/>
            <a:chOff x="571500" y="2719451"/>
            <a:chExt cx="10977715" cy="380873"/>
          </a:xfrm>
        </p:grpSpPr>
        <p:sp>
          <p:nvSpPr>
            <p:cNvPr id="100" name="Google Shape;100;p14_r4_r4_r4"/>
            <p:cNvSpPr txBox="1"/>
            <p:nvPr/>
          </p:nvSpPr>
          <p:spPr>
            <a:xfrm>
              <a:off x="928840" y="2719451"/>
              <a:ext cx="10620375" cy="3808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THE BENCHMARK THEY CAN'T MEET —</a:t>
              </a:r>
              <a:endParaRPr dirty="0"/>
            </a:p>
            <a:p>
              <a:r>
                <a:rPr>
                  <a:solidFill>
                    <a:srgbClr val="FFFFFF"/>
                  </a:solidFill>
                </a:rPr>
                <a:t>INDIAN SCAM SPEECH</a:t>
              </a:r>
            </a:p>
          </p:txBody>
        </p:sp>
        <p:pic>
          <p:nvPicPr>
            <p:cNvPr id="105" name="Google Shape;105;p14_r5_r5_r5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2819400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" name="Group 3_r6_r28_r6_r28_r6_r31">
            <a:extLst>
              <a:ext uri="{FF2B5EF4-FFF2-40B4-BE49-F238E27FC236}">
                <a16:creationId xmlns:a16="http://schemas.microsoft.com/office/drawing/2014/main" id="{8BDCEEF2-B973-65CB-4419-90818D61867D}"/>
              </a:ext>
            </a:extLst>
          </p:cNvPr>
          <p:cNvGrpSpPr/>
          <p:nvPr/>
        </p:nvGrpSpPr>
        <p:grpSpPr>
          <a:xfrm>
            <a:off x="571500" y="3188813"/>
            <a:ext cx="5238750" cy="314325"/>
            <a:chOff x="571500" y="3657600"/>
            <a:chExt cx="5238750" cy="314325"/>
          </a:xfrm>
        </p:grpSpPr>
        <p:sp>
          <p:nvSpPr>
            <p:cNvPr id="101" name="Google Shape;101;p14_r7_r7_r7"/>
            <p:cNvSpPr txBox="1"/>
            <p:nvPr/>
          </p:nvSpPr>
          <p:spPr>
            <a:xfrm>
              <a:off x="1000125" y="36576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Truecaller's '&lt;1s' = pickup latency, NOT fraud detection</a:t>
              </a:r>
              <a:endParaRPr dirty="0"/>
            </a:p>
          </p:txBody>
        </p:sp>
        <p:pic>
          <p:nvPicPr>
            <p:cNvPr id="106" name="Google Shape;106;p14_r8_r8_r8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36861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0" name="Group 4_r9_r29_r9_r29_r9_r32">
            <a:extLst>
              <a:ext uri="{FF2B5EF4-FFF2-40B4-BE49-F238E27FC236}">
                <a16:creationId xmlns:a16="http://schemas.microsoft.com/office/drawing/2014/main" id="{776B38BC-4A69-5F43-A0F5-137CD55E4FA8}"/>
              </a:ext>
            </a:extLst>
          </p:cNvPr>
          <p:cNvGrpSpPr/>
          <p:nvPr/>
        </p:nvGrpSpPr>
        <p:grpSpPr>
          <a:xfrm>
            <a:off x="571500" y="3741263"/>
            <a:ext cx="5238750" cy="314325"/>
            <a:chOff x="571500" y="4210050"/>
            <a:chExt cx="5238750" cy="314325"/>
          </a:xfrm>
        </p:grpSpPr>
        <p:sp>
          <p:nvSpPr>
            <p:cNvPr id="102" name="Google Shape;102;p14_r10_r10_r10"/>
            <p:cNvSpPr txBox="1"/>
            <p:nvPr/>
          </p:nvSpPr>
          <p:spPr>
            <a:xfrm>
              <a:off x="1000125" y="421005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Generic models: 36.47–63.70% EER on real fraud calls — near useless</a:t>
              </a:r>
              <a:endParaRPr dirty="0"/>
            </a:p>
          </p:txBody>
        </p:sp>
        <p:pic>
          <p:nvPicPr>
            <p:cNvPr id="107" name="Google Shape;107;p14_r11_r11_r1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23862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" name="Group 5_r12_r30_r12_r30_r12_r33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293713"/>
            <a:ext cx="5238750" cy="314325"/>
            <a:chOff x="571500" y="4762500"/>
            <a:chExt cx="5238750" cy="314325"/>
          </a:xfrm>
        </p:grpSpPr>
        <p:sp>
          <p:nvSpPr>
            <p:cNvPr id="103" name="Google Shape;103;p14_r13_r13_r1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Incident-trained model: 4.18% EER — our approach is 9× better</a:t>
              </a:r>
              <a:endParaRPr dirty="0"/>
            </a:p>
          </p:txBody>
        </p:sp>
        <p:pic>
          <p:nvPicPr>
            <p:cNvPr id="108" name="Google Shape;108;p14_r14_r14_r1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1" name="Google Shape;109;p14_r15_r31_r15_r31_r15_r34"/>
          <p:cNvSpPr txBox="1"/>
          <p:nvPr/>
        </p:nvSpPr>
        <p:spPr>
          <a:xfrm>
            <a:off x="571500" y="571500"/>
            <a:ext cx="116014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2EEF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PROBLEM STATEMENT</a:t>
            </a:r>
            <a:endParaRPr dirty="0"/>
          </a:p>
        </p:txBody>
      </p:sp>
      <p:sp>
        <p:nvSpPr>
          <p:cNvPr id="122" name="Google Shape;110;p14_r16_r32_r16_r32_r16_r3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11;p14_r17_r33_r17_r33_r17_r36"/>
          <p:cNvSpPr txBox="1"/>
          <p:nvPr/>
        </p:nvSpPr>
        <p:spPr>
          <a:xfrm>
            <a:off x="11706225" y="6467475"/>
            <a:ext cx="20002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t>04</a:t>
            </a:r>
          </a:p>
        </p:txBody>
      </p:sp>
      <p:pic>
        <p:nvPicPr>
          <p:cNvPr id="32" name="Picture 6_r18_r34_r18_r34_r18_r37">
            <a:extLst>
              <a:ext uri="{FF2B5EF4-FFF2-40B4-BE49-F238E27FC236}">
                <a16:creationId xmlns:a16="http://schemas.microsoft.com/office/drawing/2014/main" id="{81D6A019-74ED-9001-54F2-BCA9F7EF5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86" y="134593"/>
            <a:ext cx="2259114" cy="1169718"/>
          </a:xfrm>
          <a:prstGeom prst="rect">
            <a:avLst/>
          </a:prstGeom>
        </p:spPr>
      </p:pic>
      <p:grpSp>
        <p:nvGrpSpPr>
          <p:cNvPr id="33" name="Group 5_r19_r35_r19_r35_r19_r38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4842353"/>
            <a:ext cx="5238750" cy="314325"/>
            <a:chOff x="571500" y="4762500"/>
            <a:chExt cx="5238750" cy="314325"/>
          </a:xfrm>
        </p:grpSpPr>
        <p:sp>
          <p:nvSpPr>
            <p:cNvPr id="104" name="Google Shape;103;p14_r20_r20_r20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Hindi-telephony anti-spoof benchmark: doesn't exist — no one follows us</a:t>
              </a:r>
              <a:endParaRPr dirty="0"/>
            </a:p>
          </p:txBody>
        </p:sp>
        <p:pic>
          <p:nvPicPr>
            <p:cNvPr id="112" name="Google Shape;108;p14_r21_r21_r21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" name="Group 5_r22_r36_r22_r36_r22_r39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5390993"/>
            <a:ext cx="5238750" cy="314325"/>
            <a:chOff x="571500" y="4762500"/>
            <a:chExt cx="5238750" cy="314325"/>
          </a:xfrm>
        </p:grpSpPr>
        <p:sp>
          <p:nvSpPr>
            <p:cNvPr id="113" name="Google Shape;103;p14_r23_r23_r23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No India app ships UPI-tripwire + call-state fusion (verified white space)</a:t>
              </a:r>
              <a:endParaRPr dirty="0"/>
            </a:p>
          </p:txBody>
        </p:sp>
        <p:pic>
          <p:nvPicPr>
            <p:cNvPr id="114" name="Google Shape;108;p14_r24_r24_r24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5" name="Group 5_r22_r36_r22_r36_r25_r40">
            <a:extLst>
              <a:ext uri="{FF2B5EF4-FFF2-40B4-BE49-F238E27FC236}">
                <a16:creationId xmlns:a16="http://schemas.microsoft.com/office/drawing/2014/main" id="{CF6956BC-D0DD-126D-0DC6-421091A25E5A}"/>
              </a:ext>
            </a:extLst>
          </p:cNvPr>
          <p:cNvGrpSpPr/>
          <p:nvPr/>
        </p:nvGrpSpPr>
        <p:grpSpPr>
          <a:xfrm>
            <a:off x="571500" y="5939633"/>
            <a:ext cx="5238750" cy="314325"/>
            <a:chOff x="571500" y="4762500"/>
            <a:chExt cx="5238750" cy="314325"/>
          </a:xfrm>
        </p:grpSpPr>
        <p:sp>
          <p:nvSpPr>
            <p:cNvPr id="115" name="Google Shape;103;p14_r23_r23_r26"/>
            <p:cNvSpPr txBox="1"/>
            <p:nvPr/>
          </p:nvSpPr>
          <p:spPr>
            <a:xfrm>
              <a:off x="1000125" y="4762500"/>
              <a:ext cx="4810125" cy="314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u="none" strike="noStrike" cap="none" dirty="0">
                  <a:solidFill>
                    <a:srgbClr val="FFFFFF"/>
                  </a:solidFill>
                  <a:latin typeface="Poppins Light"/>
                  <a:ea typeface="Poppins Light"/>
                  <a:cs typeface="Poppins Light"/>
                  <a:sym typeface="Poppins Light"/>
                </a:rPr>
                <a:t>Pindrop / Hiya: enterprise-only, English — can't read Hindi scams</a:t>
              </a:r>
              <a:endParaRPr dirty="0"/>
            </a:p>
          </p:txBody>
        </p:sp>
        <p:pic>
          <p:nvPicPr>
            <p:cNvPr id="116" name="Google Shape;108;p14_r24_r24_r27" descr="image.png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71500" y="4791075"/>
              <a:ext cx="200025" cy="2476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188</Words>
  <Application>Microsoft Macintosh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Poppins Light</vt:lpstr>
      <vt:lpstr>Times New Roman</vt:lpstr>
      <vt:lpstr>Playfair Display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Keshav Anand [CCE - 2024]</cp:lastModifiedBy>
  <cp:revision>9</cp:revision>
  <dcterms:modified xsi:type="dcterms:W3CDTF">2026-07-06T08:50:05Z</dcterms:modified>
</cp:coreProperties>
</file>